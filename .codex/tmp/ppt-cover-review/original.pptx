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58f4d5d06743ef" /><Relationship Type="http://schemas.openxmlformats.org/officeDocument/2006/relationships/extended-properties" Target="/docProps/app.xml" Id="R0b40cf4660184fde" /><Relationship Type="http://schemas.openxmlformats.org/officeDocument/2006/relationships/officeDocument" Target="/ppt/presentation.xml" Id="Rb92c6fd474a445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ea199e73234eb6"/>
  </p:sldMasterIdLst>
  <p:notesMasterIdLst>
    <p:notesMasterId xmlns:r="http://schemas.openxmlformats.org/officeDocument/2006/relationships" r:id="R776161fc8b0d4d3a"/>
  </p:notesMasterIdLst>
  <p:sldIdLst>
    <p:sldId xmlns:r="http://schemas.openxmlformats.org/officeDocument/2006/relationships" id="256" r:id="R2ea132fb84274807"/>
    <p:sldId xmlns:r="http://schemas.openxmlformats.org/officeDocument/2006/relationships" id="257" r:id="Refddf91c2c664db9"/>
    <p:sldId xmlns:r="http://schemas.openxmlformats.org/officeDocument/2006/relationships" id="258" r:id="R929c6a2705ff46c3"/>
    <p:sldId xmlns:r="http://schemas.openxmlformats.org/officeDocument/2006/relationships" id="259" r:id="R024cb1602aa14dd4"/>
    <p:sldId xmlns:r="http://schemas.openxmlformats.org/officeDocument/2006/relationships" id="260" r:id="Ra3975da219ae4fe1"/>
    <p:sldId xmlns:r="http://schemas.openxmlformats.org/officeDocument/2006/relationships" id="261" r:id="R149923e0098d41ec"/>
    <p:sldId xmlns:r="http://schemas.openxmlformats.org/officeDocument/2006/relationships" id="262" r:id="R69c9057b0f2d4291"/>
    <p:sldId xmlns:r="http://schemas.openxmlformats.org/officeDocument/2006/relationships" id="263" r:id="Rcbc22c1993354a6f"/>
    <p:sldId xmlns:r="http://schemas.openxmlformats.org/officeDocument/2006/relationships" id="264" r:id="Rc47738d0e62a4153"/>
    <p:sldId xmlns:r="http://schemas.openxmlformats.org/officeDocument/2006/relationships" id="265" r:id="Rd02338009f7e4314"/>
    <p:sldId xmlns:r="http://schemas.openxmlformats.org/officeDocument/2006/relationships" id="266" r:id="R872ab22f7376472a"/>
    <p:sldId xmlns:r="http://schemas.openxmlformats.org/officeDocument/2006/relationships" id="267" r:id="R89c250621c334313"/>
    <p:sldId xmlns:r="http://schemas.openxmlformats.org/officeDocument/2006/relationships" id="268" r:id="R205184fbde1a495d"/>
    <p:sldId xmlns:r="http://schemas.openxmlformats.org/officeDocument/2006/relationships" id="269" r:id="R8c199413a7034587"/>
    <p:sldId xmlns:r="http://schemas.openxmlformats.org/officeDocument/2006/relationships" id="270" r:id="R688582be9cb6494b"/>
    <p:sldId xmlns:r="http://schemas.openxmlformats.org/officeDocument/2006/relationships" id="271" r:id="R52af065231fa48de"/>
    <p:sldId xmlns:r="http://schemas.openxmlformats.org/officeDocument/2006/relationships" id="272" r:id="R7c7d9ab761e24f9b"/>
    <p:sldId xmlns:r="http://schemas.openxmlformats.org/officeDocument/2006/relationships" id="273" r:id="R3d76f938c2ac44dd"/>
    <p:sldId xmlns:r="http://schemas.openxmlformats.org/officeDocument/2006/relationships" id="274" r:id="Re817da822972400a"/>
    <p:sldId xmlns:r="http://schemas.openxmlformats.org/officeDocument/2006/relationships" id="275" r:id="R2d35713f105845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7df28ed4cf4501" /><Relationship Type="http://schemas.openxmlformats.org/officeDocument/2006/relationships/slideMaster" Target="/ppt/slideMasters/slideMaster1.xml" Id="R01ea199e73234eb6" /><Relationship Type="http://schemas.openxmlformats.org/officeDocument/2006/relationships/notesMaster" Target="/ppt/notesMasters/notesMaster1.xml" Id="R776161fc8b0d4d3a" /><Relationship Type="http://schemas.openxmlformats.org/officeDocument/2006/relationships/presProps" Target="/ppt/presProps.xml" Id="R831b3ccdb953476c" /><Relationship Type="http://schemas.openxmlformats.org/officeDocument/2006/relationships/tableStyles" Target="/ppt/tableStyles.xml" Id="Rc29e9b4d467d42e2" /><Relationship Type="http://schemas.openxmlformats.org/officeDocument/2006/relationships/slide" Target="/ppt/slides/slide1.xml" Id="R2ea132fb84274807" /><Relationship Type="http://schemas.openxmlformats.org/officeDocument/2006/relationships/slide" Target="/ppt/slides/slide2.xml" Id="Refddf91c2c664db9" /><Relationship Type="http://schemas.openxmlformats.org/officeDocument/2006/relationships/slide" Target="/ppt/slides/slide3.xml" Id="R929c6a2705ff46c3" /><Relationship Type="http://schemas.openxmlformats.org/officeDocument/2006/relationships/slide" Target="/ppt/slides/slide4.xml" Id="R024cb1602aa14dd4" /><Relationship Type="http://schemas.openxmlformats.org/officeDocument/2006/relationships/slide" Target="/ppt/slides/slide5.xml" Id="Ra3975da219ae4fe1" /><Relationship Type="http://schemas.openxmlformats.org/officeDocument/2006/relationships/slide" Target="/ppt/slides/slide6.xml" Id="R149923e0098d41ec" /><Relationship Type="http://schemas.openxmlformats.org/officeDocument/2006/relationships/slide" Target="/ppt/slides/slide7.xml" Id="R69c9057b0f2d4291" /><Relationship Type="http://schemas.openxmlformats.org/officeDocument/2006/relationships/slide" Target="/ppt/slides/slide8.xml" Id="Rcbc22c1993354a6f" /><Relationship Type="http://schemas.openxmlformats.org/officeDocument/2006/relationships/slide" Target="/ppt/slides/slide9.xml" Id="Rc47738d0e62a4153" /><Relationship Type="http://schemas.openxmlformats.org/officeDocument/2006/relationships/slide" Target="/ppt/slides/slide10.xml" Id="Rd02338009f7e4314" /><Relationship Type="http://schemas.openxmlformats.org/officeDocument/2006/relationships/slide" Target="/ppt/slides/slide11.xml" Id="R872ab22f7376472a" /><Relationship Type="http://schemas.openxmlformats.org/officeDocument/2006/relationships/slide" Target="/ppt/slides/slide12.xml" Id="R89c250621c334313" /><Relationship Type="http://schemas.openxmlformats.org/officeDocument/2006/relationships/slide" Target="/ppt/slides/slide13.xml" Id="R205184fbde1a495d" /><Relationship Type="http://schemas.openxmlformats.org/officeDocument/2006/relationships/slide" Target="/ppt/slides/slide14.xml" Id="R8c199413a7034587" /><Relationship Type="http://schemas.openxmlformats.org/officeDocument/2006/relationships/slide" Target="/ppt/slides/slide15.xml" Id="R688582be9cb6494b" /><Relationship Type="http://schemas.openxmlformats.org/officeDocument/2006/relationships/slide" Target="/ppt/slides/slide16.xml" Id="R52af065231fa48de" /><Relationship Type="http://schemas.openxmlformats.org/officeDocument/2006/relationships/slide" Target="/ppt/slides/slide17.xml" Id="R7c7d9ab761e24f9b" /><Relationship Type="http://schemas.openxmlformats.org/officeDocument/2006/relationships/slide" Target="/ppt/slides/slide18.xml" Id="R3d76f938c2ac44dd" /><Relationship Type="http://schemas.openxmlformats.org/officeDocument/2006/relationships/slide" Target="/ppt/slides/slide19.xml" Id="Re817da822972400a" /><Relationship Type="http://schemas.openxmlformats.org/officeDocument/2006/relationships/slide" Target="/ppt/slides/slide20.xml" Id="R2d35713f105845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0f213ffe7140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11b939ac974962" /><Relationship Type="http://schemas.openxmlformats.org/officeDocument/2006/relationships/notesMaster" Target="/ppt/notesMasters/notesMaster1.xml" Id="R35b1afba408a40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0791c5339a4fbe" /><Relationship Type="http://schemas.openxmlformats.org/officeDocument/2006/relationships/notesMaster" Target="/ppt/notesMasters/notesMaster1.xml" Id="Rf59f0cd6af4643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34bbd9cbfd45bd" /><Relationship Type="http://schemas.openxmlformats.org/officeDocument/2006/relationships/notesMaster" Target="/ppt/notesMasters/notesMaster1.xml" Id="R6f0226d4217d48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1d85318f774c35" /><Relationship Type="http://schemas.openxmlformats.org/officeDocument/2006/relationships/notesMaster" Target="/ppt/notesMasters/notesMaster1.xml" Id="Rb55d0b94c3684a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fe821e2cc6449c" /><Relationship Type="http://schemas.openxmlformats.org/officeDocument/2006/relationships/notesMaster" Target="/ppt/notesMasters/notesMaster1.xml" Id="R29fcfe9cb1d440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63174e85894824" /><Relationship Type="http://schemas.openxmlformats.org/officeDocument/2006/relationships/notesMaster" Target="/ppt/notesMasters/notesMaster1.xml" Id="Rb87fd8a465034e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ffd86cd83041f0" /><Relationship Type="http://schemas.openxmlformats.org/officeDocument/2006/relationships/notesMaster" Target="/ppt/notesMasters/notesMaster1.xml" Id="R3ac8ba4dd6cd47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2b1509442b4b64" /><Relationship Type="http://schemas.openxmlformats.org/officeDocument/2006/relationships/notesMaster" Target="/ppt/notesMasters/notesMaster1.xml" Id="Rddf0643d2c7844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4decdb4708402c" /><Relationship Type="http://schemas.openxmlformats.org/officeDocument/2006/relationships/notesMaster" Target="/ppt/notesMasters/notesMaster1.xml" Id="R06f1231c6a4143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a4a2c1bb5f4d43" /><Relationship Type="http://schemas.openxmlformats.org/officeDocument/2006/relationships/notesMaster" Target="/ppt/notesMasters/notesMaster1.xml" Id="R483f08da0e5d4e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e7f98cc3214d9e" /><Relationship Type="http://schemas.openxmlformats.org/officeDocument/2006/relationships/notesMaster" Target="/ppt/notesMasters/notesMaster1.xml" Id="Re64b9b1839724f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ea5243c0584bc4" /><Relationship Type="http://schemas.openxmlformats.org/officeDocument/2006/relationships/notesMaster" Target="/ppt/notesMasters/notesMaster1.xml" Id="Rf034844cdd8e4c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b92ca69cb04ae8" /><Relationship Type="http://schemas.openxmlformats.org/officeDocument/2006/relationships/notesMaster" Target="/ppt/notesMasters/notesMaster1.xml" Id="R14ca2f8d553046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2240878ece4db7" /><Relationship Type="http://schemas.openxmlformats.org/officeDocument/2006/relationships/notesMaster" Target="/ppt/notesMasters/notesMaster1.xml" Id="Rb853728d27d649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883a5e2593401e" /><Relationship Type="http://schemas.openxmlformats.org/officeDocument/2006/relationships/notesMaster" Target="/ppt/notesMasters/notesMaster1.xml" Id="Rfaf4fad564424b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8bdc03e12844ce" /><Relationship Type="http://schemas.openxmlformats.org/officeDocument/2006/relationships/notesMaster" Target="/ppt/notesMasters/notesMaster1.xml" Id="R0d1dff13628546f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15b7aea2b44e9f" /><Relationship Type="http://schemas.openxmlformats.org/officeDocument/2006/relationships/notesMaster" Target="/ppt/notesMasters/notesMaster1.xml" Id="Rc7b3eb3fca2545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5093c862534ef6" /><Relationship Type="http://schemas.openxmlformats.org/officeDocument/2006/relationships/notesMaster" Target="/ppt/notesMasters/notesMaster1.xml" Id="Re9c6092f75a84a4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244ebe5903496f" /><Relationship Type="http://schemas.openxmlformats.org/officeDocument/2006/relationships/notesMaster" Target="/ppt/notesMasters/notesMaster1.xml" Id="R223d0d548be3409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d105d43b5b84fe1" /><Relationship Type="http://schemas.openxmlformats.org/officeDocument/2006/relationships/notesMaster" Target="/ppt/notesMasters/notesMaster1.xml" Id="R2705d256a47141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讲解要点：用一句话定位知元：它不是资料网盘，而是面向教学场景的多模态知识服务平台。</a:t>
            </a:r>
          </a:p>
          <a:p xmlns:a="http://schemas.openxmlformats.org/drawingml/2006/main">
            <a:r>
              <a:t>演示动作：先展示真实产品界面，再说明整场演示将沿新能源汽车故障诊断课程展开。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本地脱敏演示截图：01-knowledge-overview.png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讲解要点：强调三类常见阻力：入口分散、问题导向检索困难、经验难以复用。</a:t>
            </a:r>
          </a:p>
          <a:p xmlns:a="http://schemas.openxmlformats.org/drawingml/2006/main">
            <a:r>
              <a:t>演示动作：用新能源汽车课程举例，说明同一个故障问题可能同时涉及手册、规范、表格与电路图。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无外部来源；本页为产品问题场景的说明性编排。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讲解要点：三项价值不是三个孤立功能，而是用户完成一次可靠问答的三个连续条件。</a:t>
            </a:r>
          </a:p>
          <a:p xmlns:a="http://schemas.openxmlformats.org/drawingml/2006/main">
            <a:r>
              <a:t>演示动作：依次指出可问、可查、可追溯，并为后续知识库与智能体演示建立框架。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PROJECT_SUMMARY.md：当前多模态检索、智能体问答与引用能力说明。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讲解要点：说明知元同时服务建设、使用与治理，不要求所有人理解同一套复杂后台。</a:t>
            </a:r>
          </a:p>
          <a:p xmlns:a="http://schemas.openxmlformats.org/drawingml/2006/main">
            <a:r>
              <a:t>演示动作：从教师开始顺时针介绍四类角色，并指出五级角色治理将在第 19 页展开。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raganything/permissions.py：当前五级角色与权限模型。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讲解要点：快速建立全局链路，重点强调处理状态与引用都可观察。</a:t>
            </a:r>
          </a:p>
          <a:p xmlns:a="http://schemas.openxmlformats.org/drawingml/2006/main">
            <a:r>
              <a:t>演示动作：用五个步骤过渡到知识库演示；不展开后台技术实现。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PROJECT_SUMMARY.md：文档处理、检索与智能体数据流说明。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讲解要点：知识库是后续文档、图谱、标签与智能体绑定的基础空间。</a:t>
            </a:r>
          </a:p>
          <a:p xmlns:a="http://schemas.openxmlformats.org/drawingml/2006/main">
            <a:r>
              <a:t>演示动作：从课程知识库进入新能源汽车故障诊断课程。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本地脱敏演示截图：01-knowledge-overview.png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讲解要点：展示知识库从创建到成员授权的连续动作，强调访问范围在知识空间内管理。</a:t>
            </a:r>
          </a:p>
          <a:p xmlns:a="http://schemas.openxmlformats.org/drawingml/2006/main">
            <a:r>
              <a:t>演示动作：先指左侧创建窗口，再放大右侧成员与权限抽屉。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本地脱敏演示截图：02-kb-create.png</a:t>
            </a:r>
          </a:p>
          <a:p xmlns:a="http://schemas.openxmlformats.org/drawingml/2006/main">
            <a:r>
              <a:t>- 本地脱敏演示截图：03-kb-members.png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讲解要点：演示上传入口与知识库长期默认设置的关系。</a:t>
            </a:r>
          </a:p>
          <a:p xmlns:a="http://schemas.openxmlformats.org/drawingml/2006/main">
            <a:r>
              <a:t>演示动作：展开上传面板，指出资料入口和当前生效设置。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本地脱敏演示截图：04-kb-upload.png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讲解要点：说明使用者可以区分处理中、已完成和等待中的资料。</a:t>
            </a:r>
          </a:p>
          <a:p xmlns:a="http://schemas.openxmlformats.org/drawingml/2006/main">
            <a:r>
              <a:t>演示动作：沿任务列表查看四种处理状态，并说明状态用于观察和重试，不代表生产性能承诺。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本地脱敏演示截图：05-kb-progress.png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讲解要点：切块是检索与引用的基本单元，页面让建设者能够回到具体内容核验。</a:t>
            </a:r>
          </a:p>
          <a:p xmlns:a="http://schemas.openxmlformats.org/drawingml/2006/main">
            <a:r>
              <a:t>演示动作：打开 ID.4 空调手册的切块详情，指出页码、内容类型和标签。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本地脱敏演示截图：06-document-chunks.png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讲解要点：用空调系统标签展示跨文档关联，而不是按文件夹重复翻找。</a:t>
            </a:r>
          </a:p>
          <a:p xmlns:a="http://schemas.openxmlformats.org/drawingml/2006/main">
            <a:r>
              <a:t>演示动作：选择空调系统标签，查看关联文档与切块。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本地脱敏演示截图：07-tags.png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讲解要点：知识图谱适合表达实体关系，并为图谱检索提供可观察入口。</a:t>
            </a:r>
          </a:p>
          <a:p xmlns:a="http://schemas.openxmlformats.org/drawingml/2006/main">
            <a:r>
              <a:t>演示动作：在图中定位空调控制单元、压力传感器与故障码之间的连接。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本地脱敏演示截图：08-graph.png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讲解要点：强调多模态不是单独的展示附件，而是进入解析、检索和引用的同一知识链路。</a:t>
            </a:r>
          </a:p>
          <a:p xmlns:a="http://schemas.openxmlformats.org/drawingml/2006/main">
            <a:r>
              <a:t>演示动作：指向问答中的视觉相似结果和引用来源，再说明表格与公式也按内容单元处理。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本地脱敏演示截图：11-agent-chat.png</a:t>
            </a:r>
          </a:p>
          <a:p xmlns:a="http://schemas.openxmlformats.org/drawingml/2006/main">
            <a:r>
              <a:t>- PROJECT_SUMMARY.md：多模态解析与混合检索说明。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讲解要点：智能体列表展示用途、绑定知识库与可用状态。</a:t>
            </a:r>
          </a:p>
          <a:p xmlns:a="http://schemas.openxmlformats.org/drawingml/2006/main">
            <a:r>
              <a:t>演示动作：从新能源汽车实训助手进入配置。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本地脱敏演示截图：09-agents.png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讲解要点：配置界面把知识范围与回答方式显式化，便于教师按课程目标调整。</a:t>
            </a:r>
          </a:p>
          <a:p xmlns:a="http://schemas.openxmlformats.org/drawingml/2006/main">
            <a:r>
              <a:t>演示动作：展示知识库绑定、模型、检索模式、提示词和引用设置。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本地脱敏演示截图：10-agent-config.png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讲解要点：用三类常见问题解释检索策略，不把选择项描述为绝对优劣。</a:t>
            </a:r>
          </a:p>
          <a:p xmlns:a="http://schemas.openxmlformats.org/drawingml/2006/main">
            <a:r>
              <a:t>演示动作：先说明默认智能混合，再用部件关系与证据分散问题解释其他方式。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frontend/src/pages/AgentChatPage.jsx：当前检索方式选择界面。</a:t>
            </a:r>
          </a:p>
          <a:p xmlns:a="http://schemas.openxmlformats.org/drawingml/2006/main">
            <a:r>
              <a:t>- PROJECT_SUMMARY.md：混合检索、图谱检索与重排说明。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讲解要点：完整问答页将结论、分步建议与知识来源放在同一上下文中。</a:t>
            </a:r>
          </a:p>
          <a:p xmlns:a="http://schemas.openxmlformats.org/drawingml/2006/main">
            <a:r>
              <a:t>演示动作：提出空调不制冷问题，展开引用来源，并指出回答仍需结合课堂安全规范核验。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本地脱敏演示截图：11-agent-chat.png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讲解要点：汽修智能助手是平台能力在专业教学场景中的组合呈现。</a:t>
            </a:r>
          </a:p>
          <a:p xmlns:a="http://schemas.openxmlformats.org/drawingml/2006/main">
            <a:r>
              <a:t>演示动作：从最近查询和专业资源入口说明如何承接课堂与实训任务。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本地脱敏演示截图：12-autorepair.png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讲解要点：治理不是单一权限开关，而是角色、策略、审计和运行观察共同作用。</a:t>
            </a:r>
          </a:p>
          <a:p xmlns:a="http://schemas.openxmlformats.org/drawingml/2006/main">
            <a:r>
              <a:t>演示动作：按左上、右上、左下、右下顺序讲解四个治理入口。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本地脱敏演示截图：13-users.png</a:t>
            </a:r>
          </a:p>
          <a:p xmlns:a="http://schemas.openxmlformats.org/drawingml/2006/main">
            <a:r>
              <a:t>- 本地脱敏演示截图：14-platform.png</a:t>
            </a:r>
          </a:p>
          <a:p xmlns:a="http://schemas.openxmlformats.org/drawingml/2006/main">
            <a:r>
              <a:t>- 本地脱敏演示截图：15-audit.png</a:t>
            </a:r>
          </a:p>
          <a:p xmlns:a="http://schemas.openxmlformats.org/drawingml/2006/main">
            <a:r>
              <a:t>- 本地脱敏演示截图：16-monitor.png</a:t>
            </a:r>
          </a:p>
          <a:p xmlns:a="http://schemas.openxmlformats.org/drawingml/2006/main">
            <a:r>
              <a:t>- raganything/permissions.py：五级角色与权限模型。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讲解要点：用最小可行路径收束：先建一个课程知识库，再导入已有资料，最后用真实问题启用智能体。</a:t>
            </a:r>
          </a:p>
          <a:p xmlns:a="http://schemas.openxmlformats.org/drawingml/2006/main">
            <a:r>
              <a:t>演示动作：邀请听众选择一门课程作为首个试用场景。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无外部来源；本页为产品启用路径的说明性编排。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a012a1145248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fdf43167684cec" /><Relationship Type="http://schemas.openxmlformats.org/officeDocument/2006/relationships/slideLayout" Target="/ppt/slideLayouts/slideLayout1.xml" Id="R1e338122c39541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338122c39541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fe80fd0d64e96" /><Relationship Type="http://schemas.openxmlformats.org/officeDocument/2006/relationships/image" Target="/ppt/media/image.png" Id="R28b1f222c9654d15" /><Relationship Type="http://schemas.openxmlformats.org/officeDocument/2006/relationships/notesSlide" Target="/ppt/notesSlides/notesSlide1.xml" Id="R0e9e7e70d75d48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3ad5361b647e2" /><Relationship Type="http://schemas.openxmlformats.org/officeDocument/2006/relationships/notesSlide" Target="/ppt/notesSlides/notesSlide2.xml" Id="R85d6ba320a4f42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ec878e19f4af4" /><Relationship Type="http://schemas.openxmlformats.org/officeDocument/2006/relationships/notesSlide" Target="/ppt/notesSlides/notesSlide3.xml" Id="R306aa269732c41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100025877460d" /><Relationship Type="http://schemas.openxmlformats.org/officeDocument/2006/relationships/notesSlide" Target="/ppt/notesSlides/notesSlide4.xml" Id="Rc44d7ffb47b344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943bfe4d14154" /><Relationship Type="http://schemas.openxmlformats.org/officeDocument/2006/relationships/notesSlide" Target="/ppt/notesSlides/notesSlide5.xml" Id="Re203979088c243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5b5ce866f48e7" /><Relationship Type="http://schemas.openxmlformats.org/officeDocument/2006/relationships/image" Target="/ppt/media/image2.png" Id="R0c5ae33de4204fd0" /><Relationship Type="http://schemas.openxmlformats.org/officeDocument/2006/relationships/notesSlide" Target="/ppt/notesSlides/notesSlide6.xml" Id="R342b1ee8f34c4a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30dab62194002" /><Relationship Type="http://schemas.openxmlformats.org/officeDocument/2006/relationships/image" Target="/ppt/media/image3.png" Id="R921fe1e481d249eb" /><Relationship Type="http://schemas.openxmlformats.org/officeDocument/2006/relationships/image" Target="/ppt/media/image4.png" Id="R69ad2bf9b6b143a9" /><Relationship Type="http://schemas.openxmlformats.org/officeDocument/2006/relationships/notesSlide" Target="/ppt/notesSlides/notesSlide7.xml" Id="Rf9b6fa8c04b14b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7b92a0a434eff" /><Relationship Type="http://schemas.openxmlformats.org/officeDocument/2006/relationships/image" Target="/ppt/media/image5.png" Id="R530d7bcb4d2d4853" /><Relationship Type="http://schemas.openxmlformats.org/officeDocument/2006/relationships/notesSlide" Target="/ppt/notesSlides/notesSlide8.xml" Id="R75c2fb45657f46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c60bc216c484c" /><Relationship Type="http://schemas.openxmlformats.org/officeDocument/2006/relationships/image" Target="/ppt/media/image6.png" Id="Rb629ceabe7fd45dc" /><Relationship Type="http://schemas.openxmlformats.org/officeDocument/2006/relationships/notesSlide" Target="/ppt/notesSlides/notesSlide9.xml" Id="R5a62a54391414a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326a4cdf448c6" /><Relationship Type="http://schemas.openxmlformats.org/officeDocument/2006/relationships/image" Target="/ppt/media/image7.png" Id="Ra8f990c3187b40c4" /><Relationship Type="http://schemas.openxmlformats.org/officeDocument/2006/relationships/notesSlide" Target="/ppt/notesSlides/notesSlide10.xml" Id="Rc878c45be1d242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e37b210ca4ac6" /><Relationship Type="http://schemas.openxmlformats.org/officeDocument/2006/relationships/image" Target="/ppt/media/image8.png" Id="Rf5f8866014f34d12" /><Relationship Type="http://schemas.openxmlformats.org/officeDocument/2006/relationships/notesSlide" Target="/ppt/notesSlides/notesSlide11.xml" Id="R75d78c14eb3347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6c101e6eb45fe" /><Relationship Type="http://schemas.openxmlformats.org/officeDocument/2006/relationships/image" Target="/ppt/media/image9.png" Id="Rf87b567edc9f4740" /><Relationship Type="http://schemas.openxmlformats.org/officeDocument/2006/relationships/notesSlide" Target="/ppt/notesSlides/notesSlide12.xml" Id="R8ad2992b6a8845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f4be23cb145d4" /><Relationship Type="http://schemas.openxmlformats.org/officeDocument/2006/relationships/image" Target="/ppt/media/image10.png" Id="R0aeafe92295c45b6" /><Relationship Type="http://schemas.openxmlformats.org/officeDocument/2006/relationships/notesSlide" Target="/ppt/notesSlides/notesSlide13.xml" Id="R9c6823544cf54b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836e03a524125" /><Relationship Type="http://schemas.openxmlformats.org/officeDocument/2006/relationships/image" Target="/ppt/media/image11.png" Id="R34d02341b5314f93" /><Relationship Type="http://schemas.openxmlformats.org/officeDocument/2006/relationships/notesSlide" Target="/ppt/notesSlides/notesSlide14.xml" Id="R55cf4d14e9b648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5d04c786e4a41" /><Relationship Type="http://schemas.openxmlformats.org/officeDocument/2006/relationships/image" Target="/ppt/media/image12.png" Id="Rd2921fc1c8684db8" /><Relationship Type="http://schemas.openxmlformats.org/officeDocument/2006/relationships/notesSlide" Target="/ppt/notesSlides/notesSlide15.xml" Id="Rab84d2cc8b4f4d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6ca28c3d74b6e" /><Relationship Type="http://schemas.openxmlformats.org/officeDocument/2006/relationships/notesSlide" Target="/ppt/notesSlides/notesSlide16.xml" Id="Rbf8c7493823f41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6e8db3aed400b" /><Relationship Type="http://schemas.openxmlformats.org/officeDocument/2006/relationships/image" Target="/ppt/media/image13.png" Id="R8b0ace1c67264589" /><Relationship Type="http://schemas.openxmlformats.org/officeDocument/2006/relationships/notesSlide" Target="/ppt/notesSlides/notesSlide17.xml" Id="Rc26da02224d444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0180155964943" /><Relationship Type="http://schemas.openxmlformats.org/officeDocument/2006/relationships/image" Target="/ppt/media/image14.png" Id="R656788149eb1482a" /><Relationship Type="http://schemas.openxmlformats.org/officeDocument/2006/relationships/notesSlide" Target="/ppt/notesSlides/notesSlide18.xml" Id="Ra5fd83958a014b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3a7d6a73e42f1" /><Relationship Type="http://schemas.openxmlformats.org/officeDocument/2006/relationships/image" Target="/ppt/media/image15.png" Id="R86f36f074d3f4aa8" /><Relationship Type="http://schemas.openxmlformats.org/officeDocument/2006/relationships/image" Target="/ppt/media/image16.png" Id="R00aabb3512714ccb" /><Relationship Type="http://schemas.openxmlformats.org/officeDocument/2006/relationships/image" Target="/ppt/media/image17.png" Id="R552f6a49c0b54829" /><Relationship Type="http://schemas.openxmlformats.org/officeDocument/2006/relationships/image" Target="/ppt/media/image18.png" Id="R41aabda7bd904619" /><Relationship Type="http://schemas.openxmlformats.org/officeDocument/2006/relationships/notesSlide" Target="/ppt/notesSlides/notesSlide19.xml" Id="R931ce67d93594e7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31e8914964588" /><Relationship Type="http://schemas.openxmlformats.org/officeDocument/2006/relationships/notesSlide" Target="/ppt/notesSlides/notesSlide20.xml" Id="R5e086844fea342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1f222c9654d15"/>
          <a:srcRect xmlns:a="http://schemas.openxmlformats.org/drawingml/2006/main" l="17014" t="0" r="170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2DCA80BE-2F5F-4960-BAF7-6C13A5BB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970B7B7-806B-4056-95D8-CA45F80D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29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5B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D6E04167-97FD-48A5-9BCA-FDD9BEDA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知元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F34AF33-C2CE-431E-95D4-1F0F7027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多模态教学知识服务平台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CB7BA41-663E-42FF-AC2C-6EC6A306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BEC"/>
                </a:solidFill>
              </a:defRPr>
            </a:pPr>
            <a:r>
              <a:rPr sz="1500" b="0">
                <a:solidFill>
                  <a:srgbClr val="C7DBEC"/>
                </a:solidFill>
              </a:rPr>
              <a:t>让课程资料成为可问、可查、可追溯的知识服务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80D040D-8F5F-470A-A7C8-B08EEF2F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B8F4"/>
                </a:solidFill>
              </a:defRPr>
            </a:pPr>
            <a:r>
              <a:rPr sz="1200" b="1">
                <a:solidFill>
                  <a:srgbClr val="35B8F4"/>
                </a:solidFill>
              </a:rPr>
              <a:t>产品介绍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C89EA20-C57D-4BBF-8527-30EE1B4F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A9BE"/>
                </a:solidFill>
              </a:defRPr>
            </a:pPr>
            <a:r>
              <a:rPr sz="1050" b="0">
                <a:solidFill>
                  <a:srgbClr val="91A9BE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473464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089E27EA-F913-40C4-BCB2-53FC34D2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97E7839-6738-471F-9301-3D2F5FFA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为什么需要知元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166B87B-985C-49CB-B063-C050F07B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02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9E5AB62-C105-455C-BAE6-C0DF6651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26BF88-C57A-4F86-A868-BA3ABEC7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教学资源很多，真正用起来仍然很难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6315FD42-4B86-4FC4-97DD-83414CCD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问题不在资料数量，而在资料能否被快速找到、理解和复用。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A28B6B-35AF-4B9B-90F0-D1039E63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7AF3"/>
                </a:solidFill>
              </a:defRPr>
            </a:pPr>
            <a:r>
              <a:rPr sz="2400" b="1">
                <a:solidFill>
                  <a:srgbClr val="147AF3"/>
                </a:solidFill>
              </a:rPr>
              <a:t>01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02F023B5-E465-4F9A-8B96-4E9680D6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952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8605808-1991-4594-96FF-28BBF090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资料分散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CA4A99D-3116-4F16-B67A-9BF323CF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D"/>
                </a:solidFill>
              </a:defRPr>
            </a:pPr>
            <a:r>
              <a:rPr sz="1425" b="0">
                <a:solidFill>
                  <a:srgbClr val="5F6B7D"/>
                </a:solidFill>
              </a:rPr>
              <a:t>课件、手册、图片与案例分布在不同位置，检索入口不统一。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6F02F58-1BD0-4C3C-857D-8A5CDD4E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6B5B"/>
                </a:solidFill>
              </a:defRPr>
            </a:pPr>
            <a:r>
              <a:rPr sz="2400" b="1">
                <a:solidFill>
                  <a:srgbClr val="F26B5B"/>
                </a:solidFill>
              </a:rP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FE4BD529-6FAE-4BEE-8B61-0ACCE48A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2952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A856863-F024-40E6-B5F9-2EBA861A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查找困难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E1683CA-2792-4EF3-B693-35268F57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D"/>
                </a:solidFill>
              </a:defRPr>
            </a:pPr>
            <a:r>
              <a:rPr sz="1425" b="0">
                <a:solidFill>
                  <a:srgbClr val="5F6B7D"/>
                </a:solidFill>
              </a:rPr>
              <a:t>面对具体问题，使用者往往不知道答案藏在哪一份资料里。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5208B71-CA23-4E51-B80A-D55B50DF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C3D1"/>
                </a:solidFill>
              </a:defRPr>
            </a:pPr>
            <a:r>
              <a:rPr sz="2400" b="1">
                <a:solidFill>
                  <a:srgbClr val="17C3D1"/>
                </a:solidFill>
              </a:rPr>
              <a:t>03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A46F981B-09C6-4483-AE7F-859EA75C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2952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C3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A951ECF-173E-4D36-8774-63D99F05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经验难复用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718E433-7812-4CD8-BCCA-FBDFF4E7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D"/>
                </a:solidFill>
              </a:defRPr>
            </a:pPr>
            <a:r>
              <a:rPr sz="1425" b="0">
                <a:solidFill>
                  <a:srgbClr val="5F6B7D"/>
                </a:solidFill>
              </a:rPr>
              <a:t>教师的诊断思路和课程经验难以沉淀为可持续服务。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8DD81DA-DEE7-4F84-94F7-796702B0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33F"/>
                </a:solidFill>
              </a:defRPr>
            </a:pPr>
            <a:r>
              <a:rPr sz="1875" b="1">
                <a:solidFill>
                  <a:srgbClr val="10233F"/>
                </a:solidFill>
              </a:rPr>
              <a:t>资源沉淀只有被调用时，才真正转化为教学能力。</a:t>
            </a:r>
          </a:p>
        </p:txBody>
      </p:sp>
    </p:spTree>
    <p:extLst>
      <p:ext uri="{BB962C8B-B14F-4D97-AF65-F5344CB8AC3E}">
        <p14:creationId xmlns:p14="http://schemas.microsoft.com/office/powerpoint/2010/main" val="399764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">
            <a:extLst xmlns:a="http://schemas.openxmlformats.org/drawingml/2006/main">
              <a:ext uri="{FF2B5EF4-FFF2-40B4-BE49-F238E27FC236}">
                <a16:creationId xmlns:a16="http://schemas.microsoft.com/office/drawing/2014/main" id="{8B90FD6B-F9AC-477C-BC98-E3D10C71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4CEDB30-A12E-481E-86E8-A5F71ECF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产品价值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81BF64A-97B5-4612-AD09-6EAB44A0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03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D160E7F-4C46-4E33-8C95-42739AE4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FCC70E-2ACA-4555-A7DE-11259B40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把静态资料转化为可问、可查、可追溯的知识服务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28A218B7-5F34-4A66-B7CA-14926882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知元把资源建设、知识检索和来源核验放在同一个使用闭环中。</a:t>
            </a:r>
          </a:p>
        </p:txBody>
      </p:sp>
      <p:sp>
        <p:nvSpPr>
          <p:cNvPr id="7" name="value-0">
            <a:extLst xmlns:a="http://schemas.openxmlformats.org/drawingml/2006/main">
              <a:ext uri="{FF2B5EF4-FFF2-40B4-BE49-F238E27FC236}">
                <a16:creationId xmlns:a16="http://schemas.microsoft.com/office/drawing/2014/main" id="{97D58F75-585A-4D0A-B942-6FB012C9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33909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0198F86C-9D87-4D49-AAB1-54E9E784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47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C92EFB-8335-4DF0-AC56-F7D173E8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280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7AF3"/>
                </a:solidFill>
              </a:defRPr>
            </a:pPr>
            <a:r>
              <a:rPr sz="2625" b="1">
                <a:solidFill>
                  <a:srgbClr val="147AF3"/>
                </a:solidFill>
              </a:rPr>
              <a:t>可问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B7DBF1-30B0-459A-9033-C0F3CA43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用自然语言提出课堂或实训问题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B3ED0A0-264E-4430-81AB-C5424B58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不需要先知道文件名</a:t>
            </a:r>
          </a:p>
        </p:txBody>
      </p:sp>
      <p:sp>
        <p:nvSpPr>
          <p:cNvPr id="12" name="value-1">
            <a:extLst xmlns:a="http://schemas.openxmlformats.org/drawingml/2006/main">
              <a:ext uri="{FF2B5EF4-FFF2-40B4-BE49-F238E27FC236}">
                <a16:creationId xmlns:a16="http://schemas.microsoft.com/office/drawing/2014/main" id="{2800DE35-B273-4E58-BDF5-B8D7B7DF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52650"/>
            <a:ext cx="33909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6FDD1339-5A6D-4D30-98BE-5735DB1D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15265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C3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89B3394-34BD-4D14-9603-87DBFA71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28900"/>
            <a:ext cx="280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C3D1"/>
                </a:solidFill>
              </a:defRPr>
            </a:pPr>
            <a:r>
              <a:rPr sz="2625" b="1">
                <a:solidFill>
                  <a:srgbClr val="17C3D1"/>
                </a:solidFill>
              </a:rPr>
              <a:t>可查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1033DC6-45A0-4C37-8D85-C47F92CB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8137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从文档、图谱与多模态内容中检索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86975EC-02D9-4B94-B9B8-F34779C5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4577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围绕问题组织证据</a:t>
            </a:r>
          </a:p>
        </p:txBody>
      </p:sp>
      <p:sp>
        <p:nvSpPr>
          <p:cNvPr id="17" name="value-2">
            <a:extLst xmlns:a="http://schemas.openxmlformats.org/drawingml/2006/main">
              <a:ext uri="{FF2B5EF4-FFF2-40B4-BE49-F238E27FC236}">
                <a16:creationId xmlns:a16="http://schemas.microsoft.com/office/drawing/2014/main" id="{0F19562E-0837-48FC-BB59-6ABECD91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33909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177ED40E-CBA1-4B58-AE39-9367096B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5FA9637-4BE0-4696-A02B-44FA6987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280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26B5B"/>
                </a:solidFill>
              </a:defRPr>
            </a:pPr>
            <a:r>
              <a:rPr sz="2625" b="1">
                <a:solidFill>
                  <a:srgbClr val="F26B5B"/>
                </a:solidFill>
              </a:rPr>
              <a:t>可追溯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E9A1CF7-04C0-4EAF-BA80-E3A7DD03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8137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回答关联原始资料与引用位置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51D10AD-6E8E-430B-8F7A-8B8708C8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577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便于核对和继续学习</a:t>
            </a:r>
          </a:p>
        </p:txBody>
      </p:sp>
    </p:spTree>
    <p:extLst>
      <p:ext uri="{BB962C8B-B14F-4D97-AF65-F5344CB8AC3E}">
        <p14:creationId xmlns:p14="http://schemas.microsoft.com/office/powerpoint/2010/main" val="51812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brand">
            <a:extLst xmlns:a="http://schemas.openxmlformats.org/drawingml/2006/main">
              <a:ext uri="{FF2B5EF4-FFF2-40B4-BE49-F238E27FC236}">
                <a16:creationId xmlns:a16="http://schemas.microsoft.com/office/drawing/2014/main" id="{65FC9550-3861-4427-9C5D-6084CAD0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6D4BBE6-E419-4D9C-8F36-DDDC647D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面向不同角色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5049C9-8E8D-4497-9E02-5C6842B8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04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1B9BD74-66B3-47F0-B380-1900314A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8D6374-1526-41D1-ACCE-CBD0C68B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一个平台连接知识建设者、使用者和管理者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93C1A0F7-6D0F-4949-8CAC-BAA4D48A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每类角色看到的是与职责相匹配的资源、操作与治理入口。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E599FE76-38EF-46B0-AD24-C399950A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334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le-dot-0">
            <a:extLst xmlns:a="http://schemas.openxmlformats.org/drawingml/2006/main">
              <a:ext uri="{FF2B5EF4-FFF2-40B4-BE49-F238E27FC236}">
                <a16:creationId xmlns:a16="http://schemas.microsoft.com/office/drawing/2014/main" id="{292064FE-F1A6-4946-90B6-F33F8590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861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E8BD7E8-A3DD-4403-9F7C-62F241D6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38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10921FA-103B-4C33-B61F-25FB39E5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教师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FB4B264-57A0-4013-9533-CA4C4CEA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7AF3"/>
                </a:solidFill>
              </a:defRPr>
            </a:pPr>
            <a:r>
              <a:rPr sz="1350" b="1">
                <a:solidFill>
                  <a:srgbClr val="147AF3"/>
                </a:solidFill>
              </a:rPr>
              <a:t>建设课程知识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28D1BA2-DF46-4FA6-A2CF-A832D60B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上传资料</a:t>
            </a:r>
          </a:p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配置智能体</a:t>
            </a:r>
          </a:p>
        </p:txBody>
      </p:sp>
      <p:sp>
        <p:nvSpPr>
          <p:cNvPr id="13" name="role-dot-1">
            <a:extLst xmlns:a="http://schemas.openxmlformats.org/drawingml/2006/main">
              <a:ext uri="{FF2B5EF4-FFF2-40B4-BE49-F238E27FC236}">
                <a16:creationId xmlns:a16="http://schemas.microsoft.com/office/drawing/2014/main" id="{43D04DB3-999E-4247-BACD-D3EB9262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C3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64EB246-792B-4F39-B1C4-A7ED7FF1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D4DD258-B809-4744-BA46-B10489A0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57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助教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7EB608E-1418-4579-8514-382C6E9A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339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C3D1"/>
                </a:solidFill>
              </a:defRPr>
            </a:pPr>
            <a:r>
              <a:rPr sz="1350" b="1">
                <a:solidFill>
                  <a:srgbClr val="17C3D1"/>
                </a:solidFill>
              </a:rPr>
              <a:t>维护教学内容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49E5F02-58F7-420D-9469-A01B41A0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015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补充资料</a:t>
            </a:r>
          </a:p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整理标签</a:t>
            </a:r>
          </a:p>
        </p:txBody>
      </p:sp>
      <p:sp>
        <p:nvSpPr>
          <p:cNvPr id="18" name="role-dot-2">
            <a:extLst xmlns:a="http://schemas.openxmlformats.org/drawingml/2006/main">
              <a:ext uri="{FF2B5EF4-FFF2-40B4-BE49-F238E27FC236}">
                <a16:creationId xmlns:a16="http://schemas.microsoft.com/office/drawing/2014/main" id="{582EEFF4-CA22-450C-AA47-FC81B1DE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861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6711FCC-4DC7-497A-9EB0-52418113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38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FF1C273-386B-4956-95FD-8BDB1AE3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学生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24B07A8-B337-417A-87E8-1861C7CE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339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6B5B"/>
                </a:solidFill>
              </a:defRPr>
            </a:pPr>
            <a:r>
              <a:rPr sz="1350" b="1">
                <a:solidFill>
                  <a:srgbClr val="F26B5B"/>
                </a:solidFill>
              </a:rPr>
              <a:t>使用知识服务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DF47880-F743-47F1-ACCE-40BC10CF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015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提问检索</a:t>
            </a:r>
          </a:p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核对来源</a:t>
            </a:r>
          </a:p>
        </p:txBody>
      </p:sp>
      <p:sp>
        <p:nvSpPr>
          <p:cNvPr id="23" name="role-dot-3">
            <a:extLst xmlns:a="http://schemas.openxmlformats.org/drawingml/2006/main">
              <a:ext uri="{FF2B5EF4-FFF2-40B4-BE49-F238E27FC236}">
                <a16:creationId xmlns:a16="http://schemas.microsoft.com/office/drawing/2014/main" id="{A565AAE5-0E40-4C2F-852F-51FDCDCA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861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A20DDB5-B357-412A-B2D4-FB50E25A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E2E068A-FBD2-4FB4-8E98-03A4623F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7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管理员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0766610-A334-4584-8F6E-2C032C3E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339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</a:defRPr>
            </a:pPr>
            <a:r>
              <a:rPr sz="1350" b="1">
                <a:solidFill>
                  <a:srgbClr val="10233F"/>
                </a:solidFill>
              </a:rPr>
              <a:t>保障平台使用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38C7827-56C8-4936-919A-A296CE07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1015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成员权限</a:t>
            </a:r>
          </a:p>
          <a:p xmlns:a="http://schemas.openxmlformats.org/drawingml/2006/main">
            <a:pPr algn="ctr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审计监控</a:t>
            </a:r>
          </a:p>
        </p:txBody>
      </p:sp>
    </p:spTree>
    <p:extLst>
      <p:ext uri="{BB962C8B-B14F-4D97-AF65-F5344CB8AC3E}">
        <p14:creationId xmlns:p14="http://schemas.microsoft.com/office/powerpoint/2010/main" val="1877485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rand">
            <a:extLst xmlns:a="http://schemas.openxmlformats.org/drawingml/2006/main">
              <a:ext uri="{FF2B5EF4-FFF2-40B4-BE49-F238E27FC236}">
                <a16:creationId xmlns:a16="http://schemas.microsoft.com/office/drawing/2014/main" id="{8894181D-CB93-40D5-B79F-3B581F52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CFF4203-0D22-4582-A395-0CF45F68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知识服务链路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C13ED4F-0AAB-4935-965F-2A7ABAEC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05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C7D5153-FE51-4ABA-9529-616CD78D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DE4CD2-C06E-44D8-B75C-57156903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从资料进入平台到获得可靠答案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1A068CED-2FA2-41A3-A4B1-47375745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每一步都保留可观察状态，为后续核验和维护提供依据。</a:t>
            </a:r>
          </a:p>
        </p:txBody>
      </p:sp>
      <p:sp>
        <p:nvSpPr>
          <p:cNvPr id="7" name="step-0">
            <a:extLst xmlns:a="http://schemas.openxmlformats.org/drawingml/2006/main">
              <a:ext uri="{FF2B5EF4-FFF2-40B4-BE49-F238E27FC236}">
                <a16:creationId xmlns:a16="http://schemas.microsoft.com/office/drawing/2014/main" id="{99A005FC-448C-4A50-8E82-0244C582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612BB2C-D17E-479E-8C33-0C9BC07F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F3"/>
                </a:solidFill>
              </a:defRPr>
            </a:pPr>
            <a:r>
              <a:rPr sz="1500" b="1">
                <a:solidFill>
                  <a:srgbClr val="147AF3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BF0ADA0-FE9E-4545-AA8B-D3770849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上传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979BB59-6A23-41C2-A5CA-1C48AD53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文档 / 图片</a:t>
            </a:r>
          </a:p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表格 / 公式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BA02287-60F5-4D41-9CF5-55908774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466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A96A8"/>
                </a:solidFill>
              </a:defRPr>
            </a:pPr>
            <a:r>
              <a:rPr sz="2325" b="1">
                <a:solidFill>
                  <a:srgbClr val="8A96A8"/>
                </a:solidFill>
              </a:rPr>
              <a:t>→</a:t>
            </a:r>
          </a:p>
        </p:txBody>
      </p:sp>
      <p:sp>
        <p:nvSpPr>
          <p:cNvPr id="12" name="step-1">
            <a:extLst xmlns:a="http://schemas.openxmlformats.org/drawingml/2006/main">
              <a:ext uri="{FF2B5EF4-FFF2-40B4-BE49-F238E27FC236}">
                <a16:creationId xmlns:a16="http://schemas.microsoft.com/office/drawing/2014/main" id="{7715A38D-A46C-4CEA-BF6F-D920C67F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4795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0DA1D30-784C-496B-8A32-F7E3481E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38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C3D1"/>
                </a:solidFill>
              </a:defRPr>
            </a:pPr>
            <a:r>
              <a:rPr sz="1500" b="1">
                <a:solidFill>
                  <a:srgbClr val="17C3D1"/>
                </a:solidFill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186AE4B-A178-4FA6-B73E-A6905FD2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31470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解析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D9ADABD-89AA-4988-B240-AA91E957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84810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识别结构与</a:t>
            </a:r>
          </a:p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多模态内容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D66DB6D-19E5-45BA-A622-32473B3B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33750"/>
            <a:ext cx="466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A96A8"/>
                </a:solidFill>
              </a:defRPr>
            </a:pPr>
            <a:r>
              <a:rPr sz="2325" b="1">
                <a:solidFill>
                  <a:srgbClr val="8A96A8"/>
                </a:solidFill>
              </a:rPr>
              <a:t>→</a:t>
            </a:r>
          </a:p>
        </p:txBody>
      </p:sp>
      <p:sp>
        <p:nvSpPr>
          <p:cNvPr id="17" name="step-2">
            <a:extLst xmlns:a="http://schemas.openxmlformats.org/drawingml/2006/main">
              <a:ext uri="{FF2B5EF4-FFF2-40B4-BE49-F238E27FC236}">
                <a16:creationId xmlns:a16="http://schemas.microsoft.com/office/drawing/2014/main" id="{FC4B6486-5014-497A-BEC9-47F6D951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01327AB-AF99-4FC5-8B9B-5DF0606C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38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A875"/>
                </a:solidFill>
              </a:defRPr>
            </a:pPr>
            <a:r>
              <a:rPr sz="1500" b="1">
                <a:solidFill>
                  <a:srgbClr val="20A875"/>
                </a:solidFill>
              </a:rPr>
              <a:t>03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8EB9AFC-948F-4313-911A-4BB51426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1470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索引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405A65E-31F3-4998-96F5-59608FA6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4810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切块、向量与</a:t>
            </a:r>
          </a:p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实体关系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CA540F8-36F7-4B76-9BC0-C50866D9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466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A96A8"/>
                </a:solidFill>
              </a:defRPr>
            </a:pPr>
            <a:r>
              <a:rPr sz="2325" b="1">
                <a:solidFill>
                  <a:srgbClr val="8A96A8"/>
                </a:solidFill>
              </a:rPr>
              <a:t>→</a:t>
            </a:r>
          </a:p>
        </p:txBody>
      </p:sp>
      <p:sp>
        <p:nvSpPr>
          <p:cNvPr id="22" name="step-3">
            <a:extLst xmlns:a="http://schemas.openxmlformats.org/drawingml/2006/main">
              <a:ext uri="{FF2B5EF4-FFF2-40B4-BE49-F238E27FC236}">
                <a16:creationId xmlns:a16="http://schemas.microsoft.com/office/drawing/2014/main" id="{906AC726-1183-447D-AE6C-903E3A02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4795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CBA21D2-21D0-4147-8F14-758971B6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38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A23B"/>
                </a:solidFill>
              </a:defRPr>
            </a:pPr>
            <a:r>
              <a:rPr sz="1500" b="1">
                <a:solidFill>
                  <a:srgbClr val="E9A23B"/>
                </a:solidFill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874D74D-D896-449F-8581-C8C90E2E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1470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检索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BECA128-0644-409E-90C2-F01CF8DB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84810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按问题选择</a:t>
            </a:r>
          </a:p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召回方式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86A69B3-0DCF-41D3-AB34-463EA2CB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333750"/>
            <a:ext cx="466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A96A8"/>
                </a:solidFill>
              </a:defRPr>
            </a:pPr>
            <a:r>
              <a:rPr sz="2325" b="1">
                <a:solidFill>
                  <a:srgbClr val="8A96A8"/>
                </a:solidFill>
              </a:rPr>
              <a:t>→</a:t>
            </a:r>
          </a:p>
        </p:txBody>
      </p:sp>
      <p:sp>
        <p:nvSpPr>
          <p:cNvPr id="27" name="step-4">
            <a:extLst xmlns:a="http://schemas.openxmlformats.org/drawingml/2006/main">
              <a:ext uri="{FF2B5EF4-FFF2-40B4-BE49-F238E27FC236}">
                <a16:creationId xmlns:a16="http://schemas.microsoft.com/office/drawing/2014/main" id="{1F02D19F-F231-43E8-8287-BAA64C91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809750" cy="2000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EFDFC7A-44AD-4756-ACA1-4F522021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384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5B"/>
                </a:solidFill>
              </a:defRPr>
            </a:pPr>
            <a:r>
              <a:rPr sz="1500" b="1">
                <a:solidFill>
                  <a:srgbClr val="F26B5B"/>
                </a:solidFill>
              </a:rPr>
              <a:t>05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73C02A7-EC99-4FD0-A4B9-96CC59C3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14700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引用回答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9EF3864-5FEC-488E-B4C2-DA14B215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4810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结论关联</a:t>
            </a:r>
          </a:p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知识来源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36F16D1-C400-4272-B3F7-EB3F7F79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接下来先看知识如何被建设，再看它如何被智能体调用。</a:t>
            </a:r>
          </a:p>
        </p:txBody>
      </p:sp>
    </p:spTree>
    <p:extLst>
      <p:ext uri="{BB962C8B-B14F-4D97-AF65-F5344CB8AC3E}">
        <p14:creationId xmlns:p14="http://schemas.microsoft.com/office/powerpoint/2010/main" val="366136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F2CF4482-C70A-424E-A59A-10EC587E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75A63C6-7CEC-4E90-B4DA-26ECBE0C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2BA0D2C-4360-455A-929C-64D55FAC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06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1B9C2A2-7FA9-4AE7-8E4A-D300EAF2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7F6B9F-B5B4-4312-8662-55895F38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每门课程和专业都能拥有独立知识空间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7C001232-0845-4539-9107-6360A53B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知识库总览集中呈现资源规模、负责人和最近更新情况。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0E6777F9-5525-46B2-B25A-5EAC0DAF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ae33de4204fd0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D752FEC3-5AF4-4ECA-B3BA-462A747E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76900"/>
            <a:ext cx="3009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478CDEE-BFDF-44DF-90ED-22E2AE3F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77215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课程、专业与项目可分别建库</a:t>
            </a:r>
          </a:p>
        </p:txBody>
      </p:sp>
    </p:spTree>
    <p:extLst>
      <p:ext uri="{BB962C8B-B14F-4D97-AF65-F5344CB8AC3E}">
        <p14:creationId xmlns:p14="http://schemas.microsoft.com/office/powerpoint/2010/main" val="13481552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">
            <a:extLst xmlns:a="http://schemas.openxmlformats.org/drawingml/2006/main">
              <a:ext uri="{FF2B5EF4-FFF2-40B4-BE49-F238E27FC236}">
                <a16:creationId xmlns:a16="http://schemas.microsoft.com/office/drawing/2014/main" id="{67AF6A6B-86DE-47A6-8BAC-88F7E274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16E735B-CEBE-4E3A-9FA1-69C817F1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E394EA3-F5DB-4D22-A285-7DE7D8F0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07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7D53AEC6-CDBC-41B2-B1B8-E0FE12FF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45D192-D8F7-4DD5-9229-D914BE8B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知识库名称、成员和访问范围统一管理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D9DE34E9-D4B0-4706-B4C0-248B26BE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创建空间后，可继续维护显示名称、成员与只读或可操作级别。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84F675DF-B8BA-4991-8802-9952DD29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41148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fe1e481d249eb"/>
          <a:srcRect xmlns:a="http://schemas.openxmlformats.org/drawingml/2006/main" l="18750" t="0" r="1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19300"/>
            <a:ext cx="40005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9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C8AD33DF-C0D7-4BD5-9168-12AE3ACC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62150"/>
            <a:ext cx="68961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d2bf9b6b143a9"/>
          <a:srcRect xmlns:a="http://schemas.openxmlformats.org/drawingml/2006/main" l="0" t="2809" r="0" b="28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019300"/>
            <a:ext cx="67818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CE6FE6B-8294-4C53-9BA7-6B98829B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AF3"/>
                </a:solidFill>
              </a:defRPr>
            </a:pPr>
            <a:r>
              <a:rPr sz="1350" b="1">
                <a:solidFill>
                  <a:srgbClr val="147AF3"/>
                </a:solidFill>
              </a:rPr>
              <a:t>创建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C56EDE5-88D6-4106-9E97-CD23D879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AF3"/>
                </a:solidFill>
              </a:defRPr>
            </a:pPr>
            <a:r>
              <a:rPr sz="1350" b="1">
                <a:solidFill>
                  <a:srgbClr val="147AF3"/>
                </a:solidFill>
              </a:rPr>
              <a:t>授权</a:t>
            </a:r>
          </a:p>
        </p:txBody>
      </p:sp>
    </p:spTree>
    <p:extLst>
      <p:ext uri="{BB962C8B-B14F-4D97-AF65-F5344CB8AC3E}">
        <p14:creationId xmlns:p14="http://schemas.microsoft.com/office/powerpoint/2010/main" val="284551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E1520132-04F3-419C-8905-C7A3DE5A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3B55F26-E0A7-4FC9-844E-103E275D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E9D2E4E-ACDB-4594-AF35-7F1B7B12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08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C110519-BA2F-4A0B-9DC3-5B428F9A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077F26-37C4-47F8-8885-1A3B1E8D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多源资料通过一个入口进入知识库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10DC89E3-D802-4A73-9AB0-31BE85D8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上传面板承接文档、图片、表格等课程资料，并继承当前解析设置。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514E81A2-ECAD-4F00-B4A1-BD9C347A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d7bcb4d2d4853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FC995F69-904B-4150-B459-9DB4F181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19750"/>
            <a:ext cx="3124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D8931F7-1152-4BBE-BAC6-5EF77F23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150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同一入口承接多种课程资料</a:t>
            </a:r>
          </a:p>
        </p:txBody>
      </p:sp>
    </p:spTree>
    <p:extLst>
      <p:ext uri="{BB962C8B-B14F-4D97-AF65-F5344CB8AC3E}">
        <p14:creationId xmlns:p14="http://schemas.microsoft.com/office/powerpoint/2010/main" val="17731326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E291B669-D964-4AAA-BEE5-51D67D24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970AEDB-1056-4BB5-A249-5FDCB873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712A838-3E5A-49C9-80AA-02BC2595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09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989E52B-3B4E-4BD9-8BFF-8CAA9B06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A5455-8E4B-43D1-AF2A-159FE760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每份资料的处理进度清晰可见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E33418FB-8DC1-4400-9A41-E198F476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排队、解析、向量化与完成状态在任务列表中持续反馈。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8F846EB0-2108-4D0A-9C15-525934BE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79248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9ceabe7fd45dc"/>
          <a:stretch xmlns:a="http://schemas.openxmlformats.org/drawingml/2006/main"/>
        </p:blipFill>
        <p:spPr>
          <a:xfrm xmlns:a="http://schemas.openxmlformats.org/drawingml/2006/main">
            <a:off x="1260764" y="2019300"/>
            <a:ext cx="6355773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ED8897EF-60F7-4022-9D36-5756D9AE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7FD659B-E140-468C-85E5-53DAA735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A875"/>
                </a:solidFill>
              </a:defRPr>
            </a:pPr>
            <a:r>
              <a:rPr sz="1575" b="1">
                <a:solidFill>
                  <a:srgbClr val="20A875"/>
                </a:solidFill>
              </a:rPr>
              <a:t>已完成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81FD457-8C05-4CF5-B2C2-56A0AEEB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19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D"/>
                </a:solidFill>
              </a:defRPr>
            </a:pPr>
            <a:r>
              <a:rPr sz="1125" b="0">
                <a:solidFill>
                  <a:srgbClr val="5F6B7D"/>
                </a:solidFill>
              </a:rPr>
              <a:t>资料已进入可用状态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0BCF95A2-2F6D-4599-A227-2A877159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321FC65-8FBE-429E-A073-73761BDC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00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7AF3"/>
                </a:solidFill>
              </a:defRPr>
            </a:pPr>
            <a:r>
              <a:rPr sz="1575" b="1">
                <a:solidFill>
                  <a:srgbClr val="147AF3"/>
                </a:solidFill>
              </a:rPr>
              <a:t>向量化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BF765C0-6DE0-4730-ABD6-742CD8BF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14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D"/>
                </a:solidFill>
              </a:defRPr>
            </a:pPr>
            <a:r>
              <a:rPr sz="1125" b="0">
                <a:solidFill>
                  <a:srgbClr val="5F6B7D"/>
                </a:solidFill>
              </a:rPr>
              <a:t>正在生成检索向量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1AC76321-8379-420E-B400-19D36510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64E4F4-68F1-4F81-855A-B71EA3D0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9A23B"/>
                </a:solidFill>
              </a:defRPr>
            </a:pPr>
            <a:r>
              <a:rPr sz="1575" b="1">
                <a:solidFill>
                  <a:srgbClr val="E9A23B"/>
                </a:solidFill>
              </a:rPr>
              <a:t>解析中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C3815AE-A641-4116-A033-087995DA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10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D"/>
                </a:solidFill>
              </a:defRPr>
            </a:pPr>
            <a:r>
              <a:rPr sz="1125" b="0">
                <a:solidFill>
                  <a:srgbClr val="5F6B7D"/>
                </a:solidFill>
              </a:rPr>
              <a:t>正在解析文档结构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5B1C6F36-292E-4A24-93B4-1324759A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38700"/>
            <a:ext cx="419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4D7DA74-AB73-45D4-AF7C-95CD0AC0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91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6B5B"/>
                </a:solidFill>
              </a:defRPr>
            </a:pPr>
            <a:r>
              <a:rPr sz="1575" b="1">
                <a:solidFill>
                  <a:srgbClr val="F26B5B"/>
                </a:solidFill>
              </a:rPr>
              <a:t>排队中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64E4CBD-C079-4E8D-8CD9-FC0EFC9A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054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D"/>
                </a:solidFill>
              </a:defRPr>
            </a:pPr>
            <a:r>
              <a:rPr sz="1125" b="0">
                <a:solidFill>
                  <a:srgbClr val="5F6B7D"/>
                </a:solidFill>
              </a:rPr>
              <a:t>等待可用处理资源</a:t>
            </a:r>
          </a:p>
        </p:txBody>
      </p:sp>
    </p:spTree>
    <p:extLst>
      <p:ext uri="{BB962C8B-B14F-4D97-AF65-F5344CB8AC3E}">
        <p14:creationId xmlns:p14="http://schemas.microsoft.com/office/powerpoint/2010/main" val="1446676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25C26324-AF1D-46DE-B711-74D418FC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E4EE255-9C24-4F55-9578-DE7D7134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B742ED9-46D9-463A-802E-80830C52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10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F535E97-C004-4553-83D7-5CBE0639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540FAD-137B-4CB8-933B-EA630977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文档可以继续深入到切块和检索单元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01982724-BB36-4035-A054-AF1DB75B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从原始文件进入切块详情，检查页码、类型、标签和具体内容。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BDB729C7-3FDF-4418-A544-F0078973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990c3187b40c4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56B9B255-59BF-424D-AA12-CC5AF34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19750"/>
            <a:ext cx="3429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93F4493-5C08-4A72-B74E-2073A745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1500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从文件继续下钻到可检索内容</a:t>
            </a:r>
          </a:p>
        </p:txBody>
      </p:sp>
    </p:spTree>
    <p:extLst>
      <p:ext uri="{BB962C8B-B14F-4D97-AF65-F5344CB8AC3E}">
        <p14:creationId xmlns:p14="http://schemas.microsoft.com/office/powerpoint/2010/main" val="5225361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822B609A-EFEF-4123-8A4B-7BAD6C28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8B5C942-FFD6-4F08-A252-AEFCFD7D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0AACCE0-1EAA-4844-B5A7-0C0D30CA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11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8E6973D-C3E1-4584-AEF4-7EEDA0B5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7B2812-689A-4040-8916-4EDC2D70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标签帮助组织课程主题和专业内容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41A23EB8-9F28-4AC5-B6A6-8C63F78F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一个标签可以跨文档聚合同主题切块，方便课程建设者持续整理。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2DCB2D92-C619-4F8B-BC06-54DE1F01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8866014f34d12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DE5E8D86-561F-4B15-87CC-C71EC7B1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3505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FAA617A-9D0B-41D6-8C81-9E64A480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1500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标签把跨文档内容组织到同一主题</a:t>
            </a:r>
          </a:p>
        </p:txBody>
      </p:sp>
    </p:spTree>
    <p:extLst>
      <p:ext uri="{BB962C8B-B14F-4D97-AF65-F5344CB8AC3E}">
        <p14:creationId xmlns:p14="http://schemas.microsoft.com/office/powerpoint/2010/main" val="7030631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B7326045-6A59-4C14-921E-4B74E9A7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AFCF235-21A7-4933-BA0B-678A0B29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知识库演示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0458D7A-6E3F-4044-A3FF-17E3EC84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12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7D12D7B-7FE7-4447-9554-9B0F89E3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7B126-867E-4DBF-83DC-311D5D56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实体和关系让知识结构变得可视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2A293A43-990B-49C0-B86A-46702DAA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知识图谱把部件、故障码、规范与维修手册之间的关系呈现在同一视图。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5674611D-D644-4286-850C-FF86EC8A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b567edc9f4740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6C056B11-D48C-4AC3-9715-EF490FF2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295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2748CC2-C012-4E17-A8B3-FF111FE3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7150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从文档集合看到知识之间的连接</a:t>
            </a:r>
          </a:p>
        </p:txBody>
      </p:sp>
    </p:spTree>
    <p:extLst>
      <p:ext uri="{BB962C8B-B14F-4D97-AF65-F5344CB8AC3E}">
        <p14:creationId xmlns:p14="http://schemas.microsoft.com/office/powerpoint/2010/main" val="11629429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">
            <a:extLst xmlns:a="http://schemas.openxmlformats.org/drawingml/2006/main">
              <a:ext uri="{FF2B5EF4-FFF2-40B4-BE49-F238E27FC236}">
                <a16:creationId xmlns:a16="http://schemas.microsoft.com/office/drawing/2014/main" id="{5A7FF54F-DA76-4490-AA8B-9B6EC352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702C5DE-064E-49F1-B446-C6EC899B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多模态知识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E4F458B-8101-407A-8D3D-6B9D9F78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13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0056D98-6AA6-42AB-BD53-AD261199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D67301-BA44-4E83-BEF0-C9D7ABB5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图片、表格和公式也能进入知识链路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07400A39-44DE-41C4-9D99-9DD526E2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多模态内容既可以被识别为检索单元，也可以作为回答中的视觉来源返回。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0FC9EE79-F33C-40B7-80EC-AB1DD007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62150"/>
            <a:ext cx="72390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afe92295c45b6"/>
          <a:srcRect xmlns:a="http://schemas.openxmlformats.org/drawingml/2006/main" l="0" t="5080" r="0" b="50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019300"/>
            <a:ext cx="71247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B22CC721-6E20-4A16-8C9D-184E0999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8750FA-D18E-4C86-B9DB-14C752CB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7AF3"/>
                </a:solidFill>
              </a:defRPr>
            </a:pPr>
            <a:r>
              <a:rPr sz="1800" b="1">
                <a:solidFill>
                  <a:srgbClr val="147AF3"/>
                </a:solidFill>
              </a:rPr>
              <a:t>图片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C4A375D-7738-4FF0-A07E-6C918D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识别图像内容，并支持视觉相似结果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81B77E3D-79E3-4E4B-9115-DADA5381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0995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C3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B1A3FC8-AA1C-4379-A0DB-91F56B14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C3D1"/>
                </a:solidFill>
              </a:defRPr>
            </a:pPr>
            <a:r>
              <a:rPr sz="1800" b="1">
                <a:solidFill>
                  <a:srgbClr val="17C3D1"/>
                </a:solidFill>
              </a:rPr>
              <a:t>表格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F0DBB0C-FDF3-4BBD-B4FE-B803F05A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保留结构信息，参与问题检索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048AED63-0945-4BDD-8534-C9D3F165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10100"/>
            <a:ext cx="495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A909207-0EB5-431D-BCFD-743B4568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81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6B5B"/>
                </a:solidFill>
              </a:defRPr>
            </a:pPr>
            <a:r>
              <a:rPr sz="1800" b="1">
                <a:solidFill>
                  <a:srgbClr val="F26B5B"/>
                </a:solidFill>
              </a:rPr>
              <a:t>公式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A1E7924-A427-4DD3-B167-1D00E5D8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625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D"/>
                </a:solidFill>
              </a:defRPr>
            </a:pPr>
            <a:r>
              <a:rPr sz="1200" b="0">
                <a:solidFill>
                  <a:srgbClr val="5F6B7D"/>
                </a:solidFill>
              </a:rPr>
              <a:t>作为文档内容进入解析与引用链路</a:t>
            </a:r>
          </a:p>
        </p:txBody>
      </p:sp>
    </p:spTree>
    <p:extLst>
      <p:ext uri="{BB962C8B-B14F-4D97-AF65-F5344CB8AC3E}">
        <p14:creationId xmlns:p14="http://schemas.microsoft.com/office/powerpoint/2010/main" val="19643858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85D20F61-02A6-4B3C-B25D-EECA9E40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4B10008-1697-4193-B909-19FE6551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智能体演示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A8DD79-828F-415F-B357-ACBF93EF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14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2F25BB5-471D-44AF-A69F-BCB4095E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B37B25-0E9A-45DC-AC34-ECAE42E2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每个智能体拥有独立的知识与回答方式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70451C64-F025-4C7A-A9C1-BB9CC8A9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同一平台可以为不同课程、专业任务和使用场景配置专属助手。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E9E56513-AAD4-4088-B705-07AE127D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02341b5314f93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AB9B6867-93D8-4651-B0FB-0E37E174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19750"/>
            <a:ext cx="3276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827DC79-A1E3-4841-AF46-24F0A91B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150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按课程任务组织不同助手</a:t>
            </a:r>
          </a:p>
        </p:txBody>
      </p:sp>
    </p:spTree>
    <p:extLst>
      <p:ext uri="{BB962C8B-B14F-4D97-AF65-F5344CB8AC3E}">
        <p14:creationId xmlns:p14="http://schemas.microsoft.com/office/powerpoint/2010/main" val="1180196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E39690B8-463E-4BD4-9FAD-479B98F3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817E071-9C6E-47ED-A098-1E2F0FC6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智能体演示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AA06E90-A112-4932-881F-FC9449C2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15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181B81F-AD37-4CD1-99D3-A301F13A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59982-1A60-4C1F-8570-D2DAC8B3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绑定知识库、模型和检索策略即可完成配置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9FDFE5C5-72A7-4986-A347-98F29F7D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回答风格、检索范围、重排与引用开关都在同一配置界面维护。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F329570B-76BC-4A4E-965E-DA2175A4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21fc1c8684db8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16713E84-1F1D-4537-846E-B4141F56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295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F7ABE8-57BB-47FA-BE1D-D6E5A51D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71500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知识范围与回答方式分别配置</a:t>
            </a:r>
          </a:p>
        </p:txBody>
      </p:sp>
    </p:spTree>
    <p:extLst>
      <p:ext uri="{BB962C8B-B14F-4D97-AF65-F5344CB8AC3E}">
        <p14:creationId xmlns:p14="http://schemas.microsoft.com/office/powerpoint/2010/main" val="16314683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">
            <a:extLst xmlns:a="http://schemas.openxmlformats.org/drawingml/2006/main">
              <a:ext uri="{FF2B5EF4-FFF2-40B4-BE49-F238E27FC236}">
                <a16:creationId xmlns:a16="http://schemas.microsoft.com/office/drawing/2014/main" id="{40EF11A3-6DBF-436E-BF5D-0620CC3E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5BB8083-EBA5-4FF8-95BA-07C280BA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智能体演示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F3EC866-84AA-4710-93FE-AE5A5487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16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46EFECD-15D8-480D-B648-DB38D644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7403FE-1F11-4D3C-9476-0FF3D714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用户可以按问题特点选择检索方式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AF5F566B-A0CD-4DF6-AB3A-57AB2C6C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不同问题需要不同的证据组织方法，智能体可在提问前切换检索策略。</a:t>
            </a:r>
          </a:p>
        </p:txBody>
      </p:sp>
      <p:sp>
        <p:nvSpPr>
          <p:cNvPr id="7" name="mode-0">
            <a:extLst xmlns:a="http://schemas.openxmlformats.org/drawingml/2006/main">
              <a:ext uri="{FF2B5EF4-FFF2-40B4-BE49-F238E27FC236}">
                <a16:creationId xmlns:a16="http://schemas.microsoft.com/office/drawing/2014/main" id="{98AB3B89-637E-4DC7-A0F2-B86B95FE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4DE314-5047-4546-A24A-C31F2E72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7AF3"/>
                </a:solidFill>
              </a:defRPr>
            </a:pPr>
            <a:r>
              <a:rPr sz="1575" b="1">
                <a:solidFill>
                  <a:srgbClr val="147AF3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D2B9390-34B1-4281-B9BC-C4E0512B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智能混合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6980A20-BC38-4763-BC8E-2902B18E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93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D"/>
                </a:solidFill>
              </a:defRPr>
            </a:pPr>
            <a:r>
              <a:rPr sz="1350" b="0">
                <a:solidFill>
                  <a:srgbClr val="5F6B7D"/>
                </a:solidFill>
              </a:rPr>
              <a:t>综合关键词、向量与图谱信号，适合大多数教学问答。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B7EF0A51-4469-4DD4-9A62-FD59228E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876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9AA1048-B95A-4F1E-81CE-9307E49E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624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AF3"/>
                </a:solidFill>
              </a:defRPr>
            </a:pPr>
            <a:r>
              <a:rPr sz="1200" b="1">
                <a:solidFill>
                  <a:srgbClr val="147AF3"/>
                </a:solidFill>
              </a:rPr>
              <a:t>默认</a:t>
            </a:r>
          </a:p>
        </p:txBody>
      </p:sp>
      <p:sp>
        <p:nvSpPr>
          <p:cNvPr id="13" name="mode-1">
            <a:extLst xmlns:a="http://schemas.openxmlformats.org/drawingml/2006/main">
              <a:ext uri="{FF2B5EF4-FFF2-40B4-BE49-F238E27FC236}">
                <a16:creationId xmlns:a16="http://schemas.microsoft.com/office/drawing/2014/main" id="{811AA735-6A44-48F9-B7D4-FA1F85D8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02FA018-E9EE-40C6-814F-E4976CB9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1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C3D1"/>
                </a:solidFill>
              </a:defRPr>
            </a:pPr>
            <a:r>
              <a:rPr sz="1575" b="1">
                <a:solidFill>
                  <a:srgbClr val="17C3D1"/>
                </a:solidFill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96BA24E-2EC4-4F6D-BB9D-CB75F8EA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4800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图谱检索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F3C7F46-59A3-4C1C-BC96-3EF13A57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76650"/>
            <a:ext cx="293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D"/>
                </a:solidFill>
              </a:defRPr>
            </a:pPr>
            <a:r>
              <a:rPr sz="1350" b="0">
                <a:solidFill>
                  <a:srgbClr val="5F6B7D"/>
                </a:solidFill>
              </a:rPr>
              <a:t>沿实体关系寻找线索，适合部件关联与原因追踪。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625A683D-2431-489F-ADA0-C22AF34D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686300"/>
            <a:ext cx="876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C3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BF6CE6C-87E1-4520-85F7-7B14B70F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5624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C3D1"/>
                </a:solidFill>
              </a:defRPr>
            </a:pPr>
            <a:r>
              <a:rPr sz="1200" b="1">
                <a:solidFill>
                  <a:srgbClr val="17C3D1"/>
                </a:solidFill>
              </a:rPr>
              <a:t>关系问题</a:t>
            </a:r>
          </a:p>
        </p:txBody>
      </p:sp>
      <p:sp>
        <p:nvSpPr>
          <p:cNvPr id="19" name="mode-2">
            <a:extLst xmlns:a="http://schemas.openxmlformats.org/drawingml/2006/main">
              <a:ext uri="{FF2B5EF4-FFF2-40B4-BE49-F238E27FC236}">
                <a16:creationId xmlns:a16="http://schemas.microsoft.com/office/drawing/2014/main" id="{49D1618C-3A8D-434C-909E-303D4602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54CA1D4-FB27-494C-8C6A-770C9A53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14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6B5B"/>
                </a:solidFill>
              </a:defRPr>
            </a:pPr>
            <a:r>
              <a:rPr sz="1575" b="1">
                <a:solidFill>
                  <a:srgbClr val="F26B5B"/>
                </a:solidFill>
              </a:rPr>
              <a:t>03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5A91C98-ABF6-4DE7-ABBC-60C25810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融合重排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63D7BB1-364A-4CA9-AE8F-9AA0F33A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76650"/>
            <a:ext cx="2933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D"/>
                </a:solidFill>
              </a:defRPr>
            </a:pPr>
            <a:r>
              <a:rPr sz="1350" b="0">
                <a:solidFill>
                  <a:srgbClr val="5F6B7D"/>
                </a:solidFill>
              </a:rPr>
              <a:t>合并多路召回后再次排序，适合证据分散的问题。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1A31CF9D-A39A-480C-873D-70C6F9A1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86300"/>
            <a:ext cx="876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B4585C7-360E-4966-B51E-8C98126C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624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6B5B"/>
                </a:solidFill>
              </a:defRPr>
            </a:pPr>
            <a:r>
              <a:rPr sz="1200" b="1">
                <a:solidFill>
                  <a:srgbClr val="F26B5B"/>
                </a:solidFill>
              </a:rPr>
              <a:t>复杂问题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7CC7617-1A86-468E-B480-B3B59158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F"/>
                </a:solidFill>
              </a:defRPr>
            </a:pPr>
            <a:r>
              <a:rPr sz="1650" b="1">
                <a:solidFill>
                  <a:srgbClr val="10233F"/>
                </a:solidFill>
              </a:rPr>
              <a:t>检索策略决定如何找证据；回答方式决定如何组织结论。</a:t>
            </a:r>
          </a:p>
        </p:txBody>
      </p:sp>
    </p:spTree>
    <p:extLst>
      <p:ext uri="{BB962C8B-B14F-4D97-AF65-F5344CB8AC3E}">
        <p14:creationId xmlns:p14="http://schemas.microsoft.com/office/powerpoint/2010/main" val="14922351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BC3F5240-01C3-439D-B558-D646FAF0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FB193B5-289C-40FD-8190-C2039535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智能体演示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9ED1F3-9BB9-44F4-808F-FAE34931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17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B47C4DF-82FB-416B-9B4C-44C583AE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72093E-259C-4963-BC2B-D86EC2FC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回答不仅给结论，还给出知识来源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09D3AE7F-98D3-4E46-94B0-E5A5969C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用户可以继续核对引用文档、页码和视觉相似结果。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B1BF0676-8C4D-44AF-BAE8-3E10C1DD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ace1c67264589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0D44F82D-1336-4C1D-B449-4F7B027E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00700"/>
            <a:ext cx="3505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ED28811-7EA3-4A98-8AD8-8CB68BF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95950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结论、引用与视觉来源同时呈现</a:t>
            </a:r>
          </a:p>
        </p:txBody>
      </p:sp>
    </p:spTree>
    <p:extLst>
      <p:ext uri="{BB962C8B-B14F-4D97-AF65-F5344CB8AC3E}">
        <p14:creationId xmlns:p14="http://schemas.microsoft.com/office/powerpoint/2010/main" val="6066386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A341895C-96EC-4209-B54F-5ED45005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99AB570-C1F6-4C0E-943A-690B64CE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行业应用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BCBF7F-7DD3-4C7C-827C-AD1AD43F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18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76B40D7-68D7-4515-9CF8-CA8BA0E3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F592C3-BD08-4B30-B4DF-EBC2F9D3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汽修教学展示平台如何进入真实专业场景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D88742D8-26C6-40A1-9BF3-C5D2E9B4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专业工作台把案例、知识图谱和课程问答组织成面向实训的入口。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CEB57C17-CA9B-4DA5-BAAB-E82D1A44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2395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788149eb1482a"/>
          <a:srcRect xmlns:a="http://schemas.openxmlformats.org/drawingml/2006/main" l="0" t="19315" r="0" b="193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11125200" cy="42672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F614FB5E-7266-4B9F-AD12-98DBB82F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600700"/>
            <a:ext cx="35623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D1E18A-45C6-4C08-8BF9-92CC93DE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9595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通用能力可以组合成专业工作台</a:t>
            </a:r>
          </a:p>
        </p:txBody>
      </p:sp>
    </p:spTree>
    <p:extLst>
      <p:ext uri="{BB962C8B-B14F-4D97-AF65-F5344CB8AC3E}">
        <p14:creationId xmlns:p14="http://schemas.microsoft.com/office/powerpoint/2010/main" val="20876474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">
            <a:extLst xmlns:a="http://schemas.openxmlformats.org/drawingml/2006/main">
              <a:ext uri="{FF2B5EF4-FFF2-40B4-BE49-F238E27FC236}">
                <a16:creationId xmlns:a16="http://schemas.microsoft.com/office/drawing/2014/main" id="{F88CADD8-05B2-4D91-8A31-D3E8EAE6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</a:defRPr>
            </a:pPr>
            <a:r>
              <a:rPr sz="1575" b="1">
                <a:solidFill>
                  <a:srgbClr val="10233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FC4F2B5-250E-4083-85B2-E9788564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6A8"/>
                </a:solidFill>
              </a:defRPr>
            </a:pPr>
            <a:r>
              <a:rPr sz="975" b="0">
                <a:solidFill>
                  <a:srgbClr val="8A96A8"/>
                </a:solidFill>
              </a:rPr>
              <a:t>治理保障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D03BABD-948B-4910-8B11-E9BD362D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6A8"/>
                </a:solidFill>
              </a:defRPr>
            </a:pPr>
            <a:r>
              <a:rPr sz="975" b="1">
                <a:solidFill>
                  <a:srgbClr val="8A96A8"/>
                </a:solidFill>
              </a:rPr>
              <a:t>19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8146966-235D-4F83-BA73-E4BEB5D6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6F1EE0-AB93-43FA-95D1-D6F75D87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五级角色、平台策略、审计与监控共同保障使用</a:t>
            </a:r>
          </a:p>
        </p:txBody>
      </p:sp>
      <p:sp>
        <p:nvSpPr>
          <p:cNvPr id="6" name="slide-kicker">
            <a:extLst xmlns:a="http://schemas.openxmlformats.org/drawingml/2006/main">
              <a:ext uri="{FF2B5EF4-FFF2-40B4-BE49-F238E27FC236}">
                <a16:creationId xmlns:a16="http://schemas.microsoft.com/office/drawing/2014/main" id="{BA990F41-94AE-410D-8568-89D76314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D"/>
                </a:solidFill>
              </a:defRPr>
            </a:pPr>
            <a:r>
              <a:rPr sz="1275" b="0">
                <a:solidFill>
                  <a:srgbClr val="5F6B7D"/>
                </a:solidFill>
              </a:rPr>
              <a:t>权限边界、平台默认值、操作留痕与运行状态形成完整治理视图。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060FC0A5-F7D3-4D41-B23F-0CD81E19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5619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36f074d3f4aa8"/>
          <a:srcRect xmlns:a="http://schemas.openxmlformats.org/drawingml/2006/main" l="0" t="23702" r="0" b="23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057400"/>
            <a:ext cx="5505450" cy="180975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9" name="label-五级角色与用户">
            <a:extLst xmlns:a="http://schemas.openxmlformats.org/drawingml/2006/main">
              <a:ext uri="{FF2B5EF4-FFF2-40B4-BE49-F238E27FC236}">
                <a16:creationId xmlns:a16="http://schemas.microsoft.com/office/drawing/2014/main" id="{0B897E16-D662-4524-9861-515BAF55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06D5F53-147A-4614-87C9-8735DE01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五级角色与用户</a:t>
            </a:r>
          </a:p>
        </p:txBody>
      </p:sp>
      <p:sp>
        <p:nvSpPr>
          <p:cNvPr id="11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69AD2936-09AE-44DA-8853-AFF86389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619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abb3512714ccb"/>
          <a:srcRect xmlns:a="http://schemas.openxmlformats.org/drawingml/2006/main" l="0" t="23702" r="0" b="23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2057400"/>
            <a:ext cx="5505450" cy="180975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13" name="label-平台策略">
            <a:extLst xmlns:a="http://schemas.openxmlformats.org/drawingml/2006/main">
              <a:ext uri="{FF2B5EF4-FFF2-40B4-BE49-F238E27FC236}">
                <a16:creationId xmlns:a16="http://schemas.microsoft.com/office/drawing/2014/main" id="{36E50007-CA96-4E93-AF04-7A592FAC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B43BD1B-008A-4E90-8EE9-83A7A60B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平台策略</a:t>
            </a:r>
          </a:p>
        </p:txBody>
      </p:sp>
      <p:sp>
        <p:nvSpPr>
          <p:cNvPr id="15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5682C274-8007-42F4-9276-7E3ED49F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5619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f6a49c0b54829"/>
          <a:srcRect xmlns:a="http://schemas.openxmlformats.org/drawingml/2006/main" l="0" t="23702" r="0" b="23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4171950"/>
            <a:ext cx="5505450" cy="180975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17" name="label-审计日志">
            <a:extLst xmlns:a="http://schemas.openxmlformats.org/drawingml/2006/main">
              <a:ext uri="{FF2B5EF4-FFF2-40B4-BE49-F238E27FC236}">
                <a16:creationId xmlns:a16="http://schemas.microsoft.com/office/drawing/2014/main" id="{7485ABD4-8EC9-40E7-BA7A-65C2DEA3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D474879-C141-4C4C-A575-69A18AC0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审计日志</a:t>
            </a:r>
          </a:p>
        </p:txBody>
      </p:sp>
      <p:sp>
        <p:nvSpPr>
          <p:cNvPr id="19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1613FE0D-A7F6-42C6-8928-9014A15C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5619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abda7bd904619"/>
          <a:srcRect xmlns:a="http://schemas.openxmlformats.org/drawingml/2006/main" l="0" t="23702" r="0" b="23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4171950"/>
            <a:ext cx="5505450" cy="180975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21" name="label-运行监控">
            <a:extLst xmlns:a="http://schemas.openxmlformats.org/drawingml/2006/main">
              <a:ext uri="{FF2B5EF4-FFF2-40B4-BE49-F238E27FC236}">
                <a16:creationId xmlns:a16="http://schemas.microsoft.com/office/drawing/2014/main" id="{972E1795-E151-457B-81F0-EE61C7EE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A36683D-0EE2-44BF-BC3F-84566783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9117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运行监控</a:t>
            </a:r>
          </a:p>
        </p:txBody>
      </p:sp>
    </p:spTree>
    <p:extLst>
      <p:ext uri="{BB962C8B-B14F-4D97-AF65-F5344CB8AC3E}">
        <p14:creationId xmlns:p14="http://schemas.microsoft.com/office/powerpoint/2010/main" val="12182674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rand">
            <a:extLst xmlns:a="http://schemas.openxmlformats.org/drawingml/2006/main">
              <a:ext uri="{FF2B5EF4-FFF2-40B4-BE49-F238E27FC236}">
                <a16:creationId xmlns:a16="http://schemas.microsoft.com/office/drawing/2014/main" id="{BD915B91-5C6D-4669-BF28-4718F064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知元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035F8BD-0B3C-4405-B0B4-47DCB561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CD6EC"/>
                </a:solidFill>
              </a:defRPr>
            </a:pPr>
            <a:r>
              <a:rPr sz="975" b="0">
                <a:solidFill>
                  <a:srgbClr val="BCD6EC"/>
                </a:solidFill>
              </a:rPr>
              <a:t>开始使用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9137E96-D399-43FC-B4DB-D82C604B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CD6EC"/>
                </a:solidFill>
              </a:defRPr>
            </a:pPr>
            <a:r>
              <a:rPr sz="975" b="1">
                <a:solidFill>
                  <a:srgbClr val="BCD6EC"/>
                </a:solidFill>
              </a:rPr>
              <a:t>20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1143C93-2DA2-4379-A684-CE98884C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B26C4C87-E30F-433C-9066-9AB767BF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三步开始，让课程资料真正被用起来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1AC3D7C-9DBE-45F8-B0C4-2FD91026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CD6EC"/>
                </a:solidFill>
              </a:defRPr>
            </a:pPr>
            <a:r>
              <a:rPr sz="1500" b="0">
                <a:solidFill>
                  <a:srgbClr val="BCD6EC"/>
                </a:solidFill>
              </a:rPr>
              <a:t>从一个课程、一组资料和一个明确问题开始</a:t>
            </a:r>
          </a:p>
        </p:txBody>
      </p:sp>
      <p:sp>
        <p:nvSpPr>
          <p:cNvPr id="7" name="close-step-0">
            <a:extLst xmlns:a="http://schemas.openxmlformats.org/drawingml/2006/main">
              <a:ext uri="{FF2B5EF4-FFF2-40B4-BE49-F238E27FC236}">
                <a16:creationId xmlns:a16="http://schemas.microsoft.com/office/drawing/2014/main" id="{BA9EA837-B4F3-474D-A6B3-0F5BDC50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42D49"/>
          </a:solidFill>
          <a:ln xmlns:a="http://schemas.openxmlformats.org/drawingml/2006/main" w="9525">
            <a:solidFill>
              <a:srgbClr val="315575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EE96BA5-1D94-48F8-BED0-51DC865E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5BCE8"/>
                </a:solidFill>
              </a:defRPr>
            </a:pPr>
            <a:r>
              <a:rPr sz="1800" b="1">
                <a:solidFill>
                  <a:srgbClr val="85BCE8"/>
                </a:solidFill>
              </a:rPr>
              <a:t>01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76920D-B3BD-41B4-8218-12B2E87F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创建知识库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6AE75F6-67F2-4F33-8964-46C3AC93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D7E8"/>
                </a:solidFill>
              </a:defRPr>
            </a:pPr>
            <a:r>
              <a:rPr sz="1275" b="0">
                <a:solidFill>
                  <a:srgbClr val="C3D7E8"/>
                </a:solidFill>
              </a:rPr>
              <a:t>以课程、专业或项目为边界建立知识空间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A6A6229-FD3E-4F27-BD82-57AB573F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76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197B7"/>
                </a:solidFill>
              </a:defRPr>
            </a:pPr>
            <a:r>
              <a:rPr sz="2250" b="1">
                <a:solidFill>
                  <a:srgbClr val="7197B7"/>
                </a:solidFill>
              </a:rPr>
              <a:t>→</a:t>
            </a:r>
          </a:p>
        </p:txBody>
      </p:sp>
      <p:sp>
        <p:nvSpPr>
          <p:cNvPr id="12" name="close-step-1">
            <a:extLst xmlns:a="http://schemas.openxmlformats.org/drawingml/2006/main">
              <a:ext uri="{FF2B5EF4-FFF2-40B4-BE49-F238E27FC236}">
                <a16:creationId xmlns:a16="http://schemas.microsoft.com/office/drawing/2014/main" id="{3A084A9F-D648-4A6F-B51C-98EFD60B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83552"/>
          </a:solidFill>
          <a:ln xmlns:a="http://schemas.openxmlformats.org/drawingml/2006/main" w="9525">
            <a:solidFill>
              <a:srgbClr val="315575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A8775E3-88EC-4757-8048-3DCF05BF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527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B8F4"/>
                </a:solidFill>
              </a:defRPr>
            </a:pPr>
            <a:r>
              <a:rPr sz="1800" b="1">
                <a:solidFill>
                  <a:srgbClr val="35B8F4"/>
                </a:solidFill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1453405-C41F-470B-AF17-6688054B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上传资料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E9DEFDB-53A9-474D-851D-2FE811BE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71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D7E8"/>
                </a:solidFill>
              </a:defRPr>
            </a:pPr>
            <a:r>
              <a:rPr sz="1275" b="0">
                <a:solidFill>
                  <a:srgbClr val="C3D7E8"/>
                </a:solidFill>
              </a:rPr>
              <a:t>从已有课件、手册、图片和案例开始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87C30EA-9F20-435F-AF30-C5540673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197B7"/>
                </a:solidFill>
              </a:defRPr>
            </a:pPr>
            <a:r>
              <a:rPr sz="2250" b="1">
                <a:solidFill>
                  <a:srgbClr val="7197B7"/>
                </a:solidFill>
              </a:rPr>
              <a:t>→</a:t>
            </a:r>
          </a:p>
        </p:txBody>
      </p:sp>
      <p:sp>
        <p:nvSpPr>
          <p:cNvPr id="17" name="close-step-2">
            <a:extLst xmlns:a="http://schemas.openxmlformats.org/drawingml/2006/main">
              <a:ext uri="{FF2B5EF4-FFF2-40B4-BE49-F238E27FC236}">
                <a16:creationId xmlns:a16="http://schemas.microsoft.com/office/drawing/2014/main" id="{32866D22-A29C-4354-919C-4B62FCDD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3143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42D49"/>
          </a:solidFill>
          <a:ln xmlns:a="http://schemas.openxmlformats.org/drawingml/2006/main" w="9525">
            <a:solidFill>
              <a:srgbClr val="315575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9CD6B71-818B-40BC-AB00-D8B035EA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5BCE8"/>
                </a:solidFill>
              </a:defRPr>
            </a:pPr>
            <a:r>
              <a:rPr sz="1800" b="1">
                <a:solidFill>
                  <a:srgbClr val="85BCE8"/>
                </a:solidFill>
              </a:rPr>
              <a:t>03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35ECC3D-BE83-4811-A6C5-FC0CD79E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启用智能体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496FE08-39C6-4D27-BA2D-4AE06655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3D7E8"/>
                </a:solidFill>
              </a:defRPr>
            </a:pPr>
            <a:r>
              <a:rPr sz="1275" b="0">
                <a:solidFill>
                  <a:srgbClr val="C3D7E8"/>
                </a:solidFill>
              </a:rPr>
              <a:t>绑定知识范围，让用户提出真实问题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DAED7053-CE51-4A4E-8044-8EADE663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57850"/>
            <a:ext cx="3200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B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99A7FF4-810F-40F1-AC6B-D863101B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055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知元 · 多模态教学知识服务平台</a:t>
            </a:r>
          </a:p>
        </p:txBody>
      </p:sp>
    </p:spTree>
    <p:extLst>
      <p:ext uri="{BB962C8B-B14F-4D97-AF65-F5344CB8AC3E}">
        <p14:creationId xmlns:p14="http://schemas.microsoft.com/office/powerpoint/2010/main" val="234248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2026-08-14T10:11:47.9960000Z</dcterms:created>
  <dcterms:modified xsi:type="dcterms:W3CDTF">2026-08-14T10:11:47.9960000Z</dcterms:modified>
</coreProperties>
</file>
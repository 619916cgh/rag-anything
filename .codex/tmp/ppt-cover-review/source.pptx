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c1afddc814adc" /><Relationship Type="http://schemas.openxmlformats.org/officeDocument/2006/relationships/extended-properties" Target="/docProps/app.xml" Id="Rc91919347682424f" /><Relationship Type="http://schemas.openxmlformats.org/officeDocument/2006/relationships/officeDocument" Target="/ppt/presentation.xml" Id="R4cb120149dbf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e5fb9557b43f1"/>
  </p:sldMasterIdLst>
  <p:notesMasterIdLst>
    <p:notesMasterId xmlns:r="http://schemas.openxmlformats.org/officeDocument/2006/relationships" r:id="R878d5362f7d14e58"/>
  </p:notesMasterIdLst>
  <p:sldIdLst>
    <p:sldId xmlns:r="http://schemas.openxmlformats.org/officeDocument/2006/relationships" id="256" r:id="R6943e5ad3a074182"/>
    <p:sldId xmlns:r="http://schemas.openxmlformats.org/officeDocument/2006/relationships" id="257" r:id="R87d9001c90064cb2"/>
    <p:sldId xmlns:r="http://schemas.openxmlformats.org/officeDocument/2006/relationships" id="258" r:id="Rf56e03e83fbd421a"/>
    <p:sldId xmlns:r="http://schemas.openxmlformats.org/officeDocument/2006/relationships" id="259" r:id="Rb352f213e572483c"/>
    <p:sldId xmlns:r="http://schemas.openxmlformats.org/officeDocument/2006/relationships" id="260" r:id="Ra846b7f032cc4dd4"/>
    <p:sldId xmlns:r="http://schemas.openxmlformats.org/officeDocument/2006/relationships" id="261" r:id="R3599a6555f5b4d24"/>
    <p:sldId xmlns:r="http://schemas.openxmlformats.org/officeDocument/2006/relationships" id="262" r:id="R331a37e5f4534924"/>
    <p:sldId xmlns:r="http://schemas.openxmlformats.org/officeDocument/2006/relationships" id="263" r:id="R1375468104754d9d"/>
    <p:sldId xmlns:r="http://schemas.openxmlformats.org/officeDocument/2006/relationships" id="264" r:id="R7c9fbece62784dc7"/>
    <p:sldId xmlns:r="http://schemas.openxmlformats.org/officeDocument/2006/relationships" id="265" r:id="Rd4bb5b493d26477b"/>
    <p:sldId xmlns:r="http://schemas.openxmlformats.org/officeDocument/2006/relationships" id="266" r:id="Rb7d9899e26e44b03"/>
    <p:sldId xmlns:r="http://schemas.openxmlformats.org/officeDocument/2006/relationships" id="267" r:id="Ra13947de01644ee9"/>
    <p:sldId xmlns:r="http://schemas.openxmlformats.org/officeDocument/2006/relationships" id="268" r:id="R8f3d544e88164927"/>
    <p:sldId xmlns:r="http://schemas.openxmlformats.org/officeDocument/2006/relationships" id="269" r:id="R446b98ff01ae433d"/>
    <p:sldId xmlns:r="http://schemas.openxmlformats.org/officeDocument/2006/relationships" id="270" r:id="Rde4916318c974346"/>
    <p:sldId xmlns:r="http://schemas.openxmlformats.org/officeDocument/2006/relationships" id="271" r:id="Refd616e081ac416c"/>
    <p:sldId xmlns:r="http://schemas.openxmlformats.org/officeDocument/2006/relationships" id="272" r:id="Rddb1d899ea704fc9"/>
    <p:sldId xmlns:r="http://schemas.openxmlformats.org/officeDocument/2006/relationships" id="273" r:id="R88c9b569b0264cfc"/>
    <p:sldId xmlns:r="http://schemas.openxmlformats.org/officeDocument/2006/relationships" id="274" r:id="Rba44a77879a44f22"/>
    <p:sldId xmlns:r="http://schemas.openxmlformats.org/officeDocument/2006/relationships" id="275" r:id="R8ace6299aaf3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320e3247eb4574" /><Relationship Type="http://schemas.openxmlformats.org/officeDocument/2006/relationships/slideMaster" Target="/ppt/slideMasters/slideMaster1.xml" Id="R0cbe5fb9557b43f1" /><Relationship Type="http://schemas.openxmlformats.org/officeDocument/2006/relationships/notesMaster" Target="/ppt/notesMasters/notesMaster1.xml" Id="R878d5362f7d14e58" /><Relationship Type="http://schemas.openxmlformats.org/officeDocument/2006/relationships/presProps" Target="/ppt/presProps.xml" Id="R67c123908bc54095" /><Relationship Type="http://schemas.openxmlformats.org/officeDocument/2006/relationships/tableStyles" Target="/ppt/tableStyles.xml" Id="Rd655988f4f314c82" /><Relationship Type="http://schemas.openxmlformats.org/officeDocument/2006/relationships/slide" Target="/ppt/slides/slide1.xml" Id="R6943e5ad3a074182" /><Relationship Type="http://schemas.openxmlformats.org/officeDocument/2006/relationships/slide" Target="/ppt/slides/slide2.xml" Id="R87d9001c90064cb2" /><Relationship Type="http://schemas.openxmlformats.org/officeDocument/2006/relationships/slide" Target="/ppt/slides/slide3.xml" Id="Rf56e03e83fbd421a" /><Relationship Type="http://schemas.openxmlformats.org/officeDocument/2006/relationships/slide" Target="/ppt/slides/slide4.xml" Id="Rb352f213e572483c" /><Relationship Type="http://schemas.openxmlformats.org/officeDocument/2006/relationships/slide" Target="/ppt/slides/slide5.xml" Id="Ra846b7f032cc4dd4" /><Relationship Type="http://schemas.openxmlformats.org/officeDocument/2006/relationships/slide" Target="/ppt/slides/slide6.xml" Id="R3599a6555f5b4d24" /><Relationship Type="http://schemas.openxmlformats.org/officeDocument/2006/relationships/slide" Target="/ppt/slides/slide7.xml" Id="R331a37e5f4534924" /><Relationship Type="http://schemas.openxmlformats.org/officeDocument/2006/relationships/slide" Target="/ppt/slides/slide8.xml" Id="R1375468104754d9d" /><Relationship Type="http://schemas.openxmlformats.org/officeDocument/2006/relationships/slide" Target="/ppt/slides/slide9.xml" Id="R7c9fbece62784dc7" /><Relationship Type="http://schemas.openxmlformats.org/officeDocument/2006/relationships/slide" Target="/ppt/slides/slide10.xml" Id="Rd4bb5b493d26477b" /><Relationship Type="http://schemas.openxmlformats.org/officeDocument/2006/relationships/slide" Target="/ppt/slides/slide11.xml" Id="Rb7d9899e26e44b03" /><Relationship Type="http://schemas.openxmlformats.org/officeDocument/2006/relationships/slide" Target="/ppt/slides/slide12.xml" Id="Ra13947de01644ee9" /><Relationship Type="http://schemas.openxmlformats.org/officeDocument/2006/relationships/slide" Target="/ppt/slides/slide13.xml" Id="R8f3d544e88164927" /><Relationship Type="http://schemas.openxmlformats.org/officeDocument/2006/relationships/slide" Target="/ppt/slides/slide14.xml" Id="R446b98ff01ae433d" /><Relationship Type="http://schemas.openxmlformats.org/officeDocument/2006/relationships/slide" Target="/ppt/slides/slide15.xml" Id="Rde4916318c974346" /><Relationship Type="http://schemas.openxmlformats.org/officeDocument/2006/relationships/slide" Target="/ppt/slides/slide16.xml" Id="Refd616e081ac416c" /><Relationship Type="http://schemas.openxmlformats.org/officeDocument/2006/relationships/slide" Target="/ppt/slides/slide17.xml" Id="Rddb1d899ea704fc9" /><Relationship Type="http://schemas.openxmlformats.org/officeDocument/2006/relationships/slide" Target="/ppt/slides/slide18.xml" Id="R88c9b569b0264cfc" /><Relationship Type="http://schemas.openxmlformats.org/officeDocument/2006/relationships/slide" Target="/ppt/slides/slide19.xml" Id="Rba44a77879a44f22" /><Relationship Type="http://schemas.openxmlformats.org/officeDocument/2006/relationships/slide" Target="/ppt/slides/slide20.xml" Id="R8ace6299aaf3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fbb2b5a496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899a06206492a" /><Relationship Type="http://schemas.openxmlformats.org/officeDocument/2006/relationships/notesMaster" Target="/ppt/notesMasters/notesMaster1.xml" Id="Rc504d51f9274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83c0043b34be5" /><Relationship Type="http://schemas.openxmlformats.org/officeDocument/2006/relationships/notesMaster" Target="/ppt/notesMasters/notesMaster1.xml" Id="R444884b263ff4f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634c31c037428e" /><Relationship Type="http://schemas.openxmlformats.org/officeDocument/2006/relationships/notesMaster" Target="/ppt/notesMasters/notesMaster1.xml" Id="R138a19a8f0b34d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861fdd64f345a0" /><Relationship Type="http://schemas.openxmlformats.org/officeDocument/2006/relationships/notesMaster" Target="/ppt/notesMasters/notesMaster1.xml" Id="R38654d4c81bd4f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f5e23062274868" /><Relationship Type="http://schemas.openxmlformats.org/officeDocument/2006/relationships/notesMaster" Target="/ppt/notesMasters/notesMaster1.xml" Id="R40577a99d8204a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756b785ba74f85" /><Relationship Type="http://schemas.openxmlformats.org/officeDocument/2006/relationships/notesMaster" Target="/ppt/notesMasters/notesMaster1.xml" Id="R10677948e5734d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8e3d8b525046d9" /><Relationship Type="http://schemas.openxmlformats.org/officeDocument/2006/relationships/notesMaster" Target="/ppt/notesMasters/notesMaster1.xml" Id="R27e23d476a304f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bd974e819344cb" /><Relationship Type="http://schemas.openxmlformats.org/officeDocument/2006/relationships/notesMaster" Target="/ppt/notesMasters/notesMaster1.xml" Id="Ra3d973be040246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6ce9a92e64d8d" /><Relationship Type="http://schemas.openxmlformats.org/officeDocument/2006/relationships/notesMaster" Target="/ppt/notesMasters/notesMaster1.xml" Id="R2621a7791eb84e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4cc1e28dd84beb" /><Relationship Type="http://schemas.openxmlformats.org/officeDocument/2006/relationships/notesMaster" Target="/ppt/notesMasters/notesMaster1.xml" Id="Re5d25e0a6cb14a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486dc124ec449d" /><Relationship Type="http://schemas.openxmlformats.org/officeDocument/2006/relationships/notesMaster" Target="/ppt/notesMasters/notesMaster1.xml" Id="Rcd3bc4ad5ac6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f8ed3b1ae54a8c" /><Relationship Type="http://schemas.openxmlformats.org/officeDocument/2006/relationships/notesMaster" Target="/ppt/notesMasters/notesMaster1.xml" Id="R1450369788e542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4fe6f1bf644b4a" /><Relationship Type="http://schemas.openxmlformats.org/officeDocument/2006/relationships/notesMaster" Target="/ppt/notesMasters/notesMaster1.xml" Id="Rcdaa767373f648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13cd8a25194aee" /><Relationship Type="http://schemas.openxmlformats.org/officeDocument/2006/relationships/notesMaster" Target="/ppt/notesMasters/notesMaster1.xml" Id="R191faf64bbdc40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95d30a58164c45" /><Relationship Type="http://schemas.openxmlformats.org/officeDocument/2006/relationships/notesMaster" Target="/ppt/notesMasters/notesMaster1.xml" Id="Rdcc2f1e711a74c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7830b596394ff8" /><Relationship Type="http://schemas.openxmlformats.org/officeDocument/2006/relationships/notesMaster" Target="/ppt/notesMasters/notesMaster1.xml" Id="R192b28acd3c54b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d21e141b4b4baf" /><Relationship Type="http://schemas.openxmlformats.org/officeDocument/2006/relationships/notesMaster" Target="/ppt/notesMasters/notesMaster1.xml" Id="R982d0098075143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7bd95b4d604ea6" /><Relationship Type="http://schemas.openxmlformats.org/officeDocument/2006/relationships/notesMaster" Target="/ppt/notesMasters/notesMaster1.xml" Id="R38cd9af043ba43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0243be201240bf" /><Relationship Type="http://schemas.openxmlformats.org/officeDocument/2006/relationships/notesMaster" Target="/ppt/notesMasters/notesMaster1.xml" Id="R65787cf7850f41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3590cdc9684105" /><Relationship Type="http://schemas.openxmlformats.org/officeDocument/2006/relationships/notesMaster" Target="/ppt/notesMasters/notesMaster1.xml" Id="R768627dda18441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讲解要点：用一句话定位知元：它不是资料网盘，而是面向教学场景的多模态知识服务平台。</a:t>
            </a:r>
          </a:p>
          <a:p xmlns:a="http://schemas.openxmlformats.org/drawingml/2006/main">
            <a:r>
              <a:t>演示动作：说明整场演示将沿新能源汽车故障诊断课程展开。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无外部来源；本页为产品定位与标题信息。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讲解要点：强调三类常见阻力：入口分散、问题导向检索困难、经验难以复用。</a:t>
            </a:r>
          </a:p>
          <a:p xmlns:a="http://schemas.openxmlformats.org/drawingml/2006/main">
            <a:r>
              <a:t>演示动作：用新能源汽车课程举例，说明同一个故障问题可能同时涉及手册、规范、表格与电路图。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无外部来源；本页为产品问题场景的说明性编排。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讲解要点：三项价值不是三个孤立功能，而是用户完成一次可靠问答的三个连续条件。</a:t>
            </a:r>
          </a:p>
          <a:p xmlns:a="http://schemas.openxmlformats.org/drawingml/2006/main">
            <a:r>
              <a:t>演示动作：依次指出可问、可查、可追溯，并为后续知识库与智能体演示建立框架。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PROJECT_SUMMARY.md：当前多模态检索、智能体问答与引用能力说明。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讲解要点：说明知元同时服务建设、使用与治理，不要求所有人理解同一套复杂后台。</a:t>
            </a:r>
          </a:p>
          <a:p xmlns:a="http://schemas.openxmlformats.org/drawingml/2006/main">
            <a:r>
              <a:t>演示动作：从教师开始顺时针介绍四类角色，并指出五级角色治理将在第 19 页展开。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raganything/permissions.py：当前五级角色与权限模型。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讲解要点：快速建立全局链路，重点强调处理状态与引用都可观察。</a:t>
            </a:r>
          </a:p>
          <a:p xmlns:a="http://schemas.openxmlformats.org/drawingml/2006/main">
            <a:r>
              <a:t>演示动作：用五个步骤过渡到知识库演示；不展开后台技术实现。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PROJECT_SUMMARY.md：文档处理、检索与智能体数据流说明。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讲解要点：知识库是后续文档、图谱、标签与智能体绑定的基础空间。</a:t>
            </a:r>
          </a:p>
          <a:p xmlns:a="http://schemas.openxmlformats.org/drawingml/2006/main">
            <a:r>
              <a:t>演示动作：从课程知识库进入新能源汽车故障诊断课程。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本地脱敏演示截图：01-knowledge-overview.png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讲解要点：展示知识库从创建到成员授权的连续动作，强调访问范围在知识空间内管理。</a:t>
            </a:r>
          </a:p>
          <a:p xmlns:a="http://schemas.openxmlformats.org/drawingml/2006/main">
            <a:r>
              <a:t>演示动作：先指左侧创建窗口，再放大右侧成员与权限抽屉。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本地脱敏演示截图：02-kb-create.png</a:t>
            </a:r>
          </a:p>
          <a:p xmlns:a="http://schemas.openxmlformats.org/drawingml/2006/main">
            <a:r>
              <a:t>- 本地脱敏演示截图：03-kb-members.png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讲解要点：演示上传入口与知识库长期默认设置的关系。</a:t>
            </a:r>
          </a:p>
          <a:p xmlns:a="http://schemas.openxmlformats.org/drawingml/2006/main">
            <a:r>
              <a:t>演示动作：展开上传面板，指出资料入口和当前生效设置。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本地脱敏演示截图：04-kb-upload.png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讲解要点：说明使用者可以区分处理中、已完成和等待中的资料。</a:t>
            </a:r>
          </a:p>
          <a:p xmlns:a="http://schemas.openxmlformats.org/drawingml/2006/main">
            <a:r>
              <a:t>演示动作：沿任务列表查看四种处理状态，并说明状态用于观察和重试，不代表生产性能承诺。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本地脱敏演示截图：05-kb-progress.png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讲解要点：切块是检索与引用的基本单元，页面让建设者能够回到具体内容核验。</a:t>
            </a:r>
          </a:p>
          <a:p xmlns:a="http://schemas.openxmlformats.org/drawingml/2006/main">
            <a:r>
              <a:t>演示动作：打开 ID.4 空调手册的切块详情，指出页码、内容类型和标签。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本地脱敏演示截图：06-document-chunks.png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讲解要点：用空调系统标签展示跨文档关联，而不是按文件夹重复翻找。</a:t>
            </a:r>
          </a:p>
          <a:p xmlns:a="http://schemas.openxmlformats.org/drawingml/2006/main">
            <a:r>
              <a:t>演示动作：选择空调系统标签，查看关联文档与切块。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本地脱敏演示截图：07-tags.png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讲解要点：知识图谱适合表达实体关系，并为图谱检索提供可观察入口。</a:t>
            </a:r>
          </a:p>
          <a:p xmlns:a="http://schemas.openxmlformats.org/drawingml/2006/main">
            <a:r>
              <a:t>演示动作：在图中定位空调控制单元、压力传感器与故障码之间的连接。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本地脱敏演示截图：08-graph.png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讲解要点：强调多模态不是单独的展示附件，而是进入解析、检索和引用的同一知识链路。</a:t>
            </a:r>
          </a:p>
          <a:p xmlns:a="http://schemas.openxmlformats.org/drawingml/2006/main">
            <a:r>
              <a:t>演示动作：指向问答中的视觉相似结果和引用来源，再说明表格与公式也按内容单元处理。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本地脱敏演示截图：11-agent-chat.png</a:t>
            </a:r>
          </a:p>
          <a:p xmlns:a="http://schemas.openxmlformats.org/drawingml/2006/main">
            <a:r>
              <a:t>- PROJECT_SUMMARY.md：多模态解析与混合检索说明。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讲解要点：智能体列表展示用途、绑定知识库与可用状态。</a:t>
            </a:r>
          </a:p>
          <a:p xmlns:a="http://schemas.openxmlformats.org/drawingml/2006/main">
            <a:r>
              <a:t>演示动作：从新能源汽车实训助手进入配置。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本地脱敏演示截图：09-agents.png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讲解要点：配置界面把知识范围与回答方式显式化，便于教师按课程目标调整。</a:t>
            </a:r>
          </a:p>
          <a:p xmlns:a="http://schemas.openxmlformats.org/drawingml/2006/main">
            <a:r>
              <a:t>演示动作：展示知识库绑定、模型、检索模式、提示词和引用设置。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本地脱敏演示截图：10-agent-config.png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讲解要点：用三类常见问题解释检索策略，不把选择项描述为绝对优劣。</a:t>
            </a:r>
          </a:p>
          <a:p xmlns:a="http://schemas.openxmlformats.org/drawingml/2006/main">
            <a:r>
              <a:t>演示动作：先说明默认智能混合，再用部件关系与证据分散问题解释其他方式。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frontend/src/pages/AgentChatPage.jsx：当前检索方式选择界面。</a:t>
            </a:r>
          </a:p>
          <a:p xmlns:a="http://schemas.openxmlformats.org/drawingml/2006/main">
            <a:r>
              <a:t>- PROJECT_SUMMARY.md：混合检索、图谱检索与重排说明。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讲解要点：完整问答页将结论、分步建议与知识来源放在同一上下文中。</a:t>
            </a:r>
          </a:p>
          <a:p xmlns:a="http://schemas.openxmlformats.org/drawingml/2006/main">
            <a:r>
              <a:t>演示动作：提出空调不制冷问题，展开引用来源，并指出回答仍需结合课堂安全规范核验。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本地脱敏演示截图：11-agent-chat.png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讲解要点：汽修智能助手是平台能力在专业教学场景中的组合呈现。</a:t>
            </a:r>
          </a:p>
          <a:p xmlns:a="http://schemas.openxmlformats.org/drawingml/2006/main">
            <a:r>
              <a:t>演示动作：从最近查询和专业资源入口说明如何承接课堂与实训任务。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本地脱敏演示截图：12-autorepair.png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讲解要点：治理不是单一权限开关，而是角色、策略、审计和运行观察共同作用。</a:t>
            </a:r>
          </a:p>
          <a:p xmlns:a="http://schemas.openxmlformats.org/drawingml/2006/main">
            <a:r>
              <a:t>演示动作：按左上、右上、左下、右下顺序讲解四个治理入口。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本地脱敏演示截图：13-users.png</a:t>
            </a:r>
          </a:p>
          <a:p xmlns:a="http://schemas.openxmlformats.org/drawingml/2006/main">
            <a:r>
              <a:t>- 本地脱敏演示截图：14-platform.png</a:t>
            </a:r>
          </a:p>
          <a:p xmlns:a="http://schemas.openxmlformats.org/drawingml/2006/main">
            <a:r>
              <a:t>- 本地脱敏演示截图：15-audit.png</a:t>
            </a:r>
          </a:p>
          <a:p xmlns:a="http://schemas.openxmlformats.org/drawingml/2006/main">
            <a:r>
              <a:t>- 本地脱敏演示截图：16-monitor.png</a:t>
            </a:r>
          </a:p>
          <a:p xmlns:a="http://schemas.openxmlformats.org/drawingml/2006/main">
            <a:r>
              <a:t>- raganything/permissions.py：五级角色与权限模型。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讲解要点：用最小可行路径收束：先建一个课程知识库，再导入已有资料，最后用真实问题启用智能体。</a:t>
            </a:r>
          </a:p>
          <a:p xmlns:a="http://schemas.openxmlformats.org/drawingml/2006/main">
            <a:r>
              <a:t>演示动作：邀请听众选择一门课程作为首个试用场景。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无外部来源；本页为产品启用路径的说明性编排。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9dcf7f255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6fe99e8bdf4744" /><Relationship Type="http://schemas.openxmlformats.org/officeDocument/2006/relationships/slideLayout" Target="/ppt/slideLayouts/slideLayout1.xml" Id="Rab19b3bebf9547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19b3bebf95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d4ad2aa4c4319" /><Relationship Type="http://schemas.openxmlformats.org/officeDocument/2006/relationships/notesSlide" Target="/ppt/notesSlides/notesSlide1.xml" Id="R253fc5034d0b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c911a46b3472a" /><Relationship Type="http://schemas.openxmlformats.org/officeDocument/2006/relationships/notesSlide" Target="/ppt/notesSlides/notesSlide2.xml" Id="R902986cd036947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9e252bd9b4d0f" /><Relationship Type="http://schemas.openxmlformats.org/officeDocument/2006/relationships/notesSlide" Target="/ppt/notesSlides/notesSlide3.xml" Id="R9f5de37f747f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8fd99d4c40e9" /><Relationship Type="http://schemas.openxmlformats.org/officeDocument/2006/relationships/notesSlide" Target="/ppt/notesSlides/notesSlide4.xml" Id="Rb65cfff5ff8b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530845df7460c" /><Relationship Type="http://schemas.openxmlformats.org/officeDocument/2006/relationships/notesSlide" Target="/ppt/notesSlides/notesSlide5.xml" Id="R774e0a2dc5654a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986d18c294718" /><Relationship Type="http://schemas.openxmlformats.org/officeDocument/2006/relationships/image" Target="/ppt/media/image.png" Id="R2f6a1c77b99940b5" /><Relationship Type="http://schemas.openxmlformats.org/officeDocument/2006/relationships/notesSlide" Target="/ppt/notesSlides/notesSlide6.xml" Id="R1bf943a7056241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19754fa694b4d" /><Relationship Type="http://schemas.openxmlformats.org/officeDocument/2006/relationships/image" Target="/ppt/media/image2.png" Id="Rce07ea060fa74e3c" /><Relationship Type="http://schemas.openxmlformats.org/officeDocument/2006/relationships/image" Target="/ppt/media/image3.png" Id="R166440ea98194b94" /><Relationship Type="http://schemas.openxmlformats.org/officeDocument/2006/relationships/notesSlide" Target="/ppt/notesSlides/notesSlide7.xml" Id="R86cd38e3601d4f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d9cec423a452c" /><Relationship Type="http://schemas.openxmlformats.org/officeDocument/2006/relationships/image" Target="/ppt/media/image4.png" Id="Rfa8c6ba5042641e3" /><Relationship Type="http://schemas.openxmlformats.org/officeDocument/2006/relationships/notesSlide" Target="/ppt/notesSlides/notesSlide8.xml" Id="Rb9be283f187547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dfe7b08b64408" /><Relationship Type="http://schemas.openxmlformats.org/officeDocument/2006/relationships/image" Target="/ppt/media/image5.png" Id="R270fa80efef74f82" /><Relationship Type="http://schemas.openxmlformats.org/officeDocument/2006/relationships/notesSlide" Target="/ppt/notesSlides/notesSlide9.xml" Id="Rab1dfd338b17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6aca9d1d6465a" /><Relationship Type="http://schemas.openxmlformats.org/officeDocument/2006/relationships/image" Target="/ppt/media/image6.png" Id="R9780a4adcc71464f" /><Relationship Type="http://schemas.openxmlformats.org/officeDocument/2006/relationships/notesSlide" Target="/ppt/notesSlides/notesSlide10.xml" Id="Rb104ab01ec344d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a7513cc954781" /><Relationship Type="http://schemas.openxmlformats.org/officeDocument/2006/relationships/image" Target="/ppt/media/image7.png" Id="R3177cf41794b46fc" /><Relationship Type="http://schemas.openxmlformats.org/officeDocument/2006/relationships/notesSlide" Target="/ppt/notesSlides/notesSlide11.xml" Id="Rec81b646eb5f4f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f292ecd32467f" /><Relationship Type="http://schemas.openxmlformats.org/officeDocument/2006/relationships/image" Target="/ppt/media/image8.png" Id="Rd37809a50acc4172" /><Relationship Type="http://schemas.openxmlformats.org/officeDocument/2006/relationships/notesSlide" Target="/ppt/notesSlides/notesSlide12.xml" Id="Rebb077c290c744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ee33d670b4bb0" /><Relationship Type="http://schemas.openxmlformats.org/officeDocument/2006/relationships/image" Target="/ppt/media/image9.png" Id="Ra24b098391784634" /><Relationship Type="http://schemas.openxmlformats.org/officeDocument/2006/relationships/notesSlide" Target="/ppt/notesSlides/notesSlide13.xml" Id="Rb75cab3646bf41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5c2a7157f4c26" /><Relationship Type="http://schemas.openxmlformats.org/officeDocument/2006/relationships/image" Target="/ppt/media/image10.png" Id="Rc8c7956fefeb4043" /><Relationship Type="http://schemas.openxmlformats.org/officeDocument/2006/relationships/notesSlide" Target="/ppt/notesSlides/notesSlide14.xml" Id="R57c9db260eb140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4012e969548ad" /><Relationship Type="http://schemas.openxmlformats.org/officeDocument/2006/relationships/image" Target="/ppt/media/image11.png" Id="Ra4f05782e727472f" /><Relationship Type="http://schemas.openxmlformats.org/officeDocument/2006/relationships/notesSlide" Target="/ppt/notesSlides/notesSlide15.xml" Id="Rbbe301bec8d648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3d73abe474539" /><Relationship Type="http://schemas.openxmlformats.org/officeDocument/2006/relationships/notesSlide" Target="/ppt/notesSlides/notesSlide16.xml" Id="R6004a8ab67cd4b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c4a1771214f12" /><Relationship Type="http://schemas.openxmlformats.org/officeDocument/2006/relationships/image" Target="/ppt/media/image12.png" Id="Rf371e1c2258f470a" /><Relationship Type="http://schemas.openxmlformats.org/officeDocument/2006/relationships/notesSlide" Target="/ppt/notesSlides/notesSlide17.xml" Id="Rd615e7ffeb7f46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38f25398c48e3" /><Relationship Type="http://schemas.openxmlformats.org/officeDocument/2006/relationships/image" Target="/ppt/media/image13.png" Id="R781b1cf3c6194142" /><Relationship Type="http://schemas.openxmlformats.org/officeDocument/2006/relationships/notesSlide" Target="/ppt/notesSlides/notesSlide18.xml" Id="R46d52ccd31ca46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43a4ac4d34589" /><Relationship Type="http://schemas.openxmlformats.org/officeDocument/2006/relationships/image" Target="/ppt/media/image14.png" Id="R0b3d3bb907dd4b68" /><Relationship Type="http://schemas.openxmlformats.org/officeDocument/2006/relationships/image" Target="/ppt/media/image15.png" Id="R2f9288ced7c448e6" /><Relationship Type="http://schemas.openxmlformats.org/officeDocument/2006/relationships/image" Target="/ppt/media/image16.png" Id="R18beb4eaa4984c6b" /><Relationship Type="http://schemas.openxmlformats.org/officeDocument/2006/relationships/image" Target="/ppt/media/image17.png" Id="R7fe54ce57faf442a" /><Relationship Type="http://schemas.openxmlformats.org/officeDocument/2006/relationships/notesSlide" Target="/ppt/notesSlides/notesSlide19.xml" Id="R7b7f503720d545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b332bfd0b4d58" /><Relationship Type="http://schemas.openxmlformats.org/officeDocument/2006/relationships/notesSlide" Target="/ppt/notesSlides/notesSlide20.xml" Id="R981924bfc4734b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AD18D255-DFFE-48F9-9372-D5BEFE41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914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5B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D8CE9BE7-0AEF-4D8F-91A5-24DD1DF8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知元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D4525D-F728-4152-A3EB-88796D77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914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多模态教学知识服务平台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D5F2E7E-C9A7-4026-AF5B-6DBE195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DBEC"/>
                </a:solidFill>
              </a:defRPr>
            </a:pPr>
            <a:r>
              <a:rPr sz="1800" b="0">
                <a:solidFill>
                  <a:srgbClr val="C7DBEC"/>
                </a:solidFill>
              </a:rPr>
              <a:t>让课程资料成为可问、可查、可追溯的知识服务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B246B5A-993C-487C-94C9-78D6791A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000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169E47-BCF6-4500-A28B-896BDA5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B8F4"/>
                </a:solidFill>
              </a:defRPr>
            </a:pPr>
            <a:r>
              <a:rPr sz="1200" b="1">
                <a:solidFill>
                  <a:srgbClr val="35B8F4"/>
                </a:solidFill>
              </a:rPr>
              <a:t>产品介绍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DC56D8-7DA5-4D53-83D8-01A8BAFA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9BE"/>
                </a:solidFill>
              </a:defRPr>
            </a:pPr>
            <a:r>
              <a:rPr sz="1050" b="0">
                <a:solidFill>
                  <a:srgbClr val="91A9BE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63954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CD5FAD83-4EB0-47EF-910F-2291309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A9A0872-77D6-4E0D-87BA-0E72C8B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为什么需要知元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06D0A6-F729-4BCD-8E5D-7BED19F3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C7FF4A6-3CE4-4F29-BEF3-67F4D904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88222C-6831-47AF-A0A8-DDFA544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教学资源很多，真正用起来仍然很难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EE3364A-86E2-45B4-B720-BFD9A92E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问题不在资料数量，而在资料能否被快速找到、理解和复用。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A098E9-9520-4CB2-A6E3-6D77442A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7AF3"/>
                </a:solidFill>
              </a:defRPr>
            </a:pPr>
            <a:r>
              <a:rPr sz="2400" b="1">
                <a:solidFill>
                  <a:srgbClr val="147AF3"/>
                </a:solidFill>
              </a:rP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3180832-45CA-485A-AC95-6E3582C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35FDE2-46F1-4719-99E0-A4028C3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资料分散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508406-8581-4A73-86CC-B18E8060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D"/>
                </a:solidFill>
              </a:defRPr>
            </a:pPr>
            <a:r>
              <a:rPr sz="1425" b="0">
                <a:solidFill>
                  <a:srgbClr val="5F6B7D"/>
                </a:solidFill>
              </a:rPr>
              <a:t>课件、手册、图片与案例分布在不同位置，检索入口不统一。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093CE91-0FBE-4CD3-AF4C-85E4A1F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6B5B"/>
                </a:solidFill>
              </a:defRPr>
            </a:pPr>
            <a:r>
              <a:rPr sz="2400" b="1">
                <a:solidFill>
                  <a:srgbClr val="F26B5B"/>
                </a:solidFill>
              </a:rP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6725AD11-D920-4B7E-8017-2ECB7A8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2952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D3AC6AD-D186-487A-9582-3EDD5AC8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查找困难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63044E3-19ED-44E9-9BDD-A6749F8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D"/>
                </a:solidFill>
              </a:defRPr>
            </a:pPr>
            <a:r>
              <a:rPr sz="1425" b="0">
                <a:solidFill>
                  <a:srgbClr val="5F6B7D"/>
                </a:solidFill>
              </a:rPr>
              <a:t>面对具体问题，使用者往往不知道答案藏在哪一份资料里。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3C0B689-33E9-4781-B78F-13F30862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C3D1"/>
                </a:solidFill>
              </a:defRPr>
            </a:pPr>
            <a:r>
              <a:rPr sz="2400" b="1">
                <a:solidFill>
                  <a:srgbClr val="17C3D1"/>
                </a:solidFill>
              </a:rPr>
              <a:t>03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D401A3CD-3985-4FA0-8126-F951A5D5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952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F8B61E1-A65D-459D-BADE-A522FD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经验难复用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6E7D2E-BC42-4681-AAF6-BE546FB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D"/>
                </a:solidFill>
              </a:defRPr>
            </a:pPr>
            <a:r>
              <a:rPr sz="1425" b="0">
                <a:solidFill>
                  <a:srgbClr val="5F6B7D"/>
                </a:solidFill>
              </a:rPr>
              <a:t>教师的诊断思路和课程经验难以沉淀为可持续服务。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93DE5E7-2F27-444C-997B-EE2EF827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资源沉淀只有被调用时，才真正转化为教学能力。</a:t>
            </a:r>
          </a:p>
        </p:txBody>
      </p:sp>
    </p:spTree>
    <p:extLst>
      <p:ext uri="{BB962C8B-B14F-4D97-AF65-F5344CB8AC3E}">
        <p14:creationId xmlns:p14="http://schemas.microsoft.com/office/powerpoint/2010/main" val="1594851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458341CC-49B9-4DB1-8886-68007262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3E839E7-6D31-48F2-819B-DD846E5E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产品价值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62C9267-8666-4732-B5B7-26D50BE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07EB2C2-3EA6-4E15-BB2B-BFF9156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36C305-0BD9-4832-A5D2-E3A7FDFC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把静态资料转化为可问、可查、可追溯的知识服务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A6EC6CFC-BB7C-43CF-B32D-1ABA6BAF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知元把资源建设、知识检索和来源核验放在同一个使用闭环中。</a:t>
            </a:r>
          </a:p>
        </p:txBody>
      </p:sp>
      <p:sp>
        <p:nvSpPr>
          <p:cNvPr id="7" name="value-0">
            <a:extLst xmlns:a="http://schemas.openxmlformats.org/drawingml/2006/main">
              <a:ext uri="{FF2B5EF4-FFF2-40B4-BE49-F238E27FC236}">
                <a16:creationId xmlns:a16="http://schemas.microsoft.com/office/drawing/2014/main" id="{43783B88-ABF3-40CD-919F-22859AB5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A8504062-C416-46B7-A481-FE759ED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7F80D1-1C53-497D-A040-3BF3AAE8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7AF3"/>
                </a:solidFill>
              </a:defRPr>
            </a:pPr>
            <a:r>
              <a:rPr sz="2625" b="1">
                <a:solidFill>
                  <a:srgbClr val="147AF3"/>
                </a:solidFill>
              </a:rPr>
              <a:t>可问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AD18AB-1D2E-43A6-847B-85E2D6BA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用自然语言提出课堂或实训问题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2F77A3-D9AD-4403-8378-D48F0287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不需要先知道文件名</a:t>
            </a:r>
          </a:p>
        </p:txBody>
      </p:sp>
      <p:sp>
        <p:nvSpPr>
          <p:cNvPr id="12" name="value-1">
            <a:extLst xmlns:a="http://schemas.openxmlformats.org/drawingml/2006/main">
              <a:ext uri="{FF2B5EF4-FFF2-40B4-BE49-F238E27FC236}">
                <a16:creationId xmlns:a16="http://schemas.microsoft.com/office/drawing/2014/main" id="{B0B0ADA3-1701-4927-9594-778E54B9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526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461AEA76-B0D8-4943-84D9-1DAD7463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5265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2834432-D6E7-42C5-8EE4-349DD68D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2890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C3D1"/>
                </a:solidFill>
              </a:defRPr>
            </a:pPr>
            <a:r>
              <a:rPr sz="2625" b="1">
                <a:solidFill>
                  <a:srgbClr val="17C3D1"/>
                </a:solidFill>
              </a:rPr>
              <a:t>可查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50BAE9E-BABD-48CA-BCEB-9DA8D44A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813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从文档、图谱与多模态内容中检索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D40A8BE-599B-4A14-B67A-0756EB9A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57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围绕问题组织证据</a:t>
            </a:r>
          </a:p>
        </p:txBody>
      </p:sp>
      <p:sp>
        <p:nvSpPr>
          <p:cNvPr id="17" name="value-2">
            <a:extLst xmlns:a="http://schemas.openxmlformats.org/drawingml/2006/main">
              <a:ext uri="{FF2B5EF4-FFF2-40B4-BE49-F238E27FC236}">
                <a16:creationId xmlns:a16="http://schemas.microsoft.com/office/drawing/2014/main" id="{BF0F203F-7356-492A-B16F-D97CF54B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1748B241-7B4B-4F58-BEE3-E46E5403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159EB3-69B6-46AB-B979-66317C8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26B5B"/>
                </a:solidFill>
              </a:defRPr>
            </a:pPr>
            <a:r>
              <a:rPr sz="2625" b="1">
                <a:solidFill>
                  <a:srgbClr val="F26B5B"/>
                </a:solidFill>
              </a:rPr>
              <a:t>可追溯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A8C13F4-5BE5-4F66-B93E-D4E75185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回答关联原始资料与引用位置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72A25B-A0AC-44B1-BC4E-2AB6A6FE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便于核对和继续学习</a:t>
            </a:r>
          </a:p>
        </p:txBody>
      </p:sp>
    </p:spTree>
    <p:extLst>
      <p:ext uri="{BB962C8B-B14F-4D97-AF65-F5344CB8AC3E}">
        <p14:creationId xmlns:p14="http://schemas.microsoft.com/office/powerpoint/2010/main" val="569444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">
            <a:extLst xmlns:a="http://schemas.openxmlformats.org/drawingml/2006/main">
              <a:ext uri="{FF2B5EF4-FFF2-40B4-BE49-F238E27FC236}">
                <a16:creationId xmlns:a16="http://schemas.microsoft.com/office/drawing/2014/main" id="{DD0511FE-6476-45C2-82CB-53CEA5E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97BFE59-CDE3-4899-82FC-A8EB550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面向不同角色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BC5672-3B5C-4C2A-AF78-C57112A7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39D0A0E-EC83-4418-846E-255078A8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8DFD2-DFB4-4FD3-9791-3ED89346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一个平台连接知识建设者、使用者和管理者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8218948-C4E9-4E84-98EC-8D69C00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每类角色看到的是与职责相匹配的资源、操作与治理入口。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40F90E6-5623-49AD-8F26-DC172BEF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334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-dot-0">
            <a:extLst xmlns:a="http://schemas.openxmlformats.org/drawingml/2006/main">
              <a:ext uri="{FF2B5EF4-FFF2-40B4-BE49-F238E27FC236}">
                <a16:creationId xmlns:a16="http://schemas.microsoft.com/office/drawing/2014/main" id="{E135FA20-79A6-4993-8F8D-A19E7A18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EC985ED-3D86-491C-9F79-AA3FCCE6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598B40-7C4F-437E-B538-433D8995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教师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4ABC3B-8CBA-4148-B12A-851F338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AF3"/>
                </a:solidFill>
              </a:defRPr>
            </a:pPr>
            <a:r>
              <a:rPr sz="1350" b="1">
                <a:solidFill>
                  <a:srgbClr val="147AF3"/>
                </a:solidFill>
              </a:rPr>
              <a:t>建设课程知识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8AAF8A-3243-45A7-8C51-8FC6870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上传资料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配置智能体</a:t>
            </a:r>
          </a:p>
        </p:txBody>
      </p:sp>
      <p:sp>
        <p:nvSpPr>
          <p:cNvPr id="13" name="role-dot-1">
            <a:extLst xmlns:a="http://schemas.openxmlformats.org/drawingml/2006/main">
              <a:ext uri="{FF2B5EF4-FFF2-40B4-BE49-F238E27FC236}">
                <a16:creationId xmlns:a16="http://schemas.microsoft.com/office/drawing/2014/main" id="{54EDED8E-5C49-46AA-B9CB-7E9EFC1B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97B40F8-7D9E-4DE8-8676-D4DA5E69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6B32DC7-C4EA-4256-A884-C094CB4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助教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C3DDDC5-9D40-4D0A-8061-EFACEFB8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C3D1"/>
                </a:solidFill>
              </a:defRPr>
            </a:pPr>
            <a:r>
              <a:rPr sz="1350" b="1">
                <a:solidFill>
                  <a:srgbClr val="17C3D1"/>
                </a:solidFill>
              </a:rPr>
              <a:t>维护教学内容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1E11B9C-6E79-4A18-8C2C-5C1BF98F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补充资料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整理标签</a:t>
            </a:r>
          </a:p>
        </p:txBody>
      </p:sp>
      <p:sp>
        <p:nvSpPr>
          <p:cNvPr id="18" name="role-dot-2">
            <a:extLst xmlns:a="http://schemas.openxmlformats.org/drawingml/2006/main">
              <a:ext uri="{FF2B5EF4-FFF2-40B4-BE49-F238E27FC236}">
                <a16:creationId xmlns:a16="http://schemas.microsoft.com/office/drawing/2014/main" id="{73FB5473-EA16-4129-893D-23A4A05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0142E0E-95E2-42C8-AB11-6A649903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412E84C-4591-4478-9BF2-2EFB1F7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学生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B98E9EE-E993-40EC-8888-0B51EE44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6B5B"/>
                </a:solidFill>
              </a:defRPr>
            </a:pPr>
            <a:r>
              <a:rPr sz="1350" b="1">
                <a:solidFill>
                  <a:srgbClr val="F26B5B"/>
                </a:solidFill>
              </a:rPr>
              <a:t>使用知识服务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204150F-E459-4BD6-83E0-895BEF5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提问检索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核对来源</a:t>
            </a:r>
          </a:p>
        </p:txBody>
      </p:sp>
      <p:sp>
        <p:nvSpPr>
          <p:cNvPr id="23" name="role-dot-3">
            <a:extLst xmlns:a="http://schemas.openxmlformats.org/drawingml/2006/main">
              <a:ext uri="{FF2B5EF4-FFF2-40B4-BE49-F238E27FC236}">
                <a16:creationId xmlns:a16="http://schemas.microsoft.com/office/drawing/2014/main" id="{81020B2C-DC6E-4EF5-98DD-092F32AD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EC5E0E6-318E-4A80-8ADB-C9DDD6F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B1E261C-663B-42E3-9AFB-69592D9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管理员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4659458-7C08-42DA-AA3F-76AD686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</a:defRPr>
            </a:pPr>
            <a:r>
              <a:rPr sz="1350" b="1">
                <a:solidFill>
                  <a:srgbClr val="10233F"/>
                </a:solidFill>
              </a:rPr>
              <a:t>保障平台使用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29F180A-C125-4AB7-81A5-962FD43F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成员权限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审计监控</a:t>
            </a:r>
          </a:p>
        </p:txBody>
      </p:sp>
    </p:spTree>
    <p:extLst>
      <p:ext uri="{BB962C8B-B14F-4D97-AF65-F5344CB8AC3E}">
        <p14:creationId xmlns:p14="http://schemas.microsoft.com/office/powerpoint/2010/main" val="864275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rand">
            <a:extLst xmlns:a="http://schemas.openxmlformats.org/drawingml/2006/main">
              <a:ext uri="{FF2B5EF4-FFF2-40B4-BE49-F238E27FC236}">
                <a16:creationId xmlns:a16="http://schemas.microsoft.com/office/drawing/2014/main" id="{E89008C3-AC20-4BE3-82A1-366FB6B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A50A917-C208-4578-A789-547B1635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知识服务链路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1A5CC7-1AA2-49DD-87F7-33B08579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E07C16F-D0A0-4EBD-9FD2-5F2DD104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940D10-7C43-4E84-AC85-7563EDF4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从资料进入平台到获得可靠答案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1AA0D66-CFB9-45C9-8314-D810D29F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每一步都保留可观察状态，为后续核验和维护提供依据。</a:t>
            </a:r>
          </a:p>
        </p:txBody>
      </p:sp>
      <p:sp>
        <p:nvSpPr>
          <p:cNvPr id="7" name="step-0">
            <a:extLst xmlns:a="http://schemas.openxmlformats.org/drawingml/2006/main">
              <a:ext uri="{FF2B5EF4-FFF2-40B4-BE49-F238E27FC236}">
                <a16:creationId xmlns:a16="http://schemas.microsoft.com/office/drawing/2014/main" id="{EA555856-D187-46F5-95AB-5CDD3753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8ED82E-9D22-4AA1-BB00-3CD1245D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F3"/>
                </a:solidFill>
              </a:defRPr>
            </a:pPr>
            <a:r>
              <a:rPr sz="1500" b="1">
                <a:solidFill>
                  <a:srgbClr val="147AF3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22A300-810F-4A87-A1A7-0E1C536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上传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024610-FFFD-4808-AB2F-4675D965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文档 / 图片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表格 / 公式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7CD3BE-9AF1-4D2D-8F78-BE6437CA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3014A82E-1E48-4644-8AF5-2E841493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A3D236-3E02-48C1-811E-06D7DC5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C3D1"/>
                </a:solidFill>
              </a:defRPr>
            </a:pPr>
            <a:r>
              <a:rPr sz="1500" b="1">
                <a:solidFill>
                  <a:srgbClr val="17C3D1"/>
                </a:solidFill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DF7F76-218B-4459-B06E-4B36B00D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解析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66F52D-FA9E-4F53-900F-DCB511E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识别结构与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多模态内容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E536362-D514-429D-8523-3C44AFD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7525A82B-B55A-4E36-9268-7DB0E5E0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58E6D93-A50C-4D3F-9E53-0896615D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A875"/>
                </a:solidFill>
              </a:defRPr>
            </a:pPr>
            <a:r>
              <a:rPr sz="1500" b="1">
                <a:solidFill>
                  <a:srgbClr val="20A875"/>
                </a:solidFill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94246B3-CA1A-4B1F-9D7E-0961B4D4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索引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8AFCC0B-4A8D-4351-A350-AFCDBBE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切块、向量与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实体关系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09384AA-CB19-4517-B9C6-CEC9133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22" name="step-3">
            <a:extLst xmlns:a="http://schemas.openxmlformats.org/drawingml/2006/main">
              <a:ext uri="{FF2B5EF4-FFF2-40B4-BE49-F238E27FC236}">
                <a16:creationId xmlns:a16="http://schemas.microsoft.com/office/drawing/2014/main" id="{952547C2-4DC7-4094-96E1-BE94EF2D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EF87710-F8F3-4E6C-8193-E8BAAD4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A23B"/>
                </a:solidFill>
              </a:defRPr>
            </a:pPr>
            <a:r>
              <a:rPr sz="1500" b="1">
                <a:solidFill>
                  <a:srgbClr val="E9A23B"/>
                </a:solidFill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4555886-816E-4D35-8210-19CD13D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检索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B280B96-17DC-4048-94FA-D98B5FC6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按问题选择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召回方式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1E3CBD9-2E92-445A-A027-B0F73B6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27" name="step-4">
            <a:extLst xmlns:a="http://schemas.openxmlformats.org/drawingml/2006/main">
              <a:ext uri="{FF2B5EF4-FFF2-40B4-BE49-F238E27FC236}">
                <a16:creationId xmlns:a16="http://schemas.microsoft.com/office/drawing/2014/main" id="{FC0B6453-4986-481C-97E1-44DE08A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804D717-40AB-48D7-8CF6-2FF33185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05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D09AEBB-960A-4376-A85C-54DF318B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引用回答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0AB139A-0A93-4C13-B934-24B6A036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结论关联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知识来源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67BD913-13D5-489B-9D68-5F9DC929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接下来先看知识如何被建设，再看它如何被智能体调用。</a:t>
            </a:r>
          </a:p>
        </p:txBody>
      </p:sp>
    </p:spTree>
    <p:extLst>
      <p:ext uri="{BB962C8B-B14F-4D97-AF65-F5344CB8AC3E}">
        <p14:creationId xmlns:p14="http://schemas.microsoft.com/office/powerpoint/2010/main" val="1578691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1CE9D543-C998-494D-AB5E-3F94B51F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0E829BB-0ACC-44DC-9A33-086E66F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50F37D-1500-451D-842C-425DF099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06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AB6945B-FAA7-4919-AD90-4FF2D506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A22D9B-40A3-4D82-9958-45CA4D78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每门课程和专业都能拥有独立知识空间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BCF6A1A-CC1C-4755-8473-48F1076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知识库总览集中呈现资源规模、负责人和最近更新情况。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5B0D3EB-3CF8-4870-B62B-C8F397B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a1c77b99940b5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D9DD4B35-3A3B-4E46-A3FD-0652534A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76900"/>
            <a:ext cx="3009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C8F295-19D9-48EE-96F7-6811E17C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7721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课程、专业与项目可分别建库</a:t>
            </a:r>
          </a:p>
        </p:txBody>
      </p:sp>
    </p:spTree>
    <p:extLst>
      <p:ext uri="{BB962C8B-B14F-4D97-AF65-F5344CB8AC3E}">
        <p14:creationId xmlns:p14="http://schemas.microsoft.com/office/powerpoint/2010/main" val="521028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3B8FB4EF-D998-4140-AC08-5A048FB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25FDD39-7FE2-440B-87C4-D30C93D2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82951F-1414-4FB5-9D90-E281F952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07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CD9D528-9069-4CA9-AFD3-B6B6168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9617A6-04B3-4AC1-99C6-554BD55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知识库名称、成员和访问范围统一管理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363AE037-6247-4273-91CF-0089E293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创建空间后，可继续维护显示名称、成员与只读或可操作级别。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D2EFA219-B0D3-4240-84D0-D3F2BE9B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1148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7ea060fa74e3c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19300"/>
            <a:ext cx="40005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055B37D-BA8E-4EB5-BFE0-3A1DF718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62150"/>
            <a:ext cx="68961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440ea98194b94"/>
          <a:srcRect xmlns:a="http://schemas.openxmlformats.org/drawingml/2006/main" l="0" t="2809" r="0" b="2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01930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7F6081-F679-456B-9AF5-A9535EC4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F3"/>
                </a:solidFill>
              </a:defRPr>
            </a:pPr>
            <a:r>
              <a:rPr sz="1350" b="1">
                <a:solidFill>
                  <a:srgbClr val="147AF3"/>
                </a:solidFill>
              </a:rPr>
              <a:t>创建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083267-2366-4739-B966-A4C7BD9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F3"/>
                </a:solidFill>
              </a:defRPr>
            </a:pPr>
            <a:r>
              <a:rPr sz="1350" b="1">
                <a:solidFill>
                  <a:srgbClr val="147AF3"/>
                </a:solidFill>
              </a:rPr>
              <a:t>授权</a:t>
            </a:r>
          </a:p>
        </p:txBody>
      </p:sp>
    </p:spTree>
    <p:extLst>
      <p:ext uri="{BB962C8B-B14F-4D97-AF65-F5344CB8AC3E}">
        <p14:creationId xmlns:p14="http://schemas.microsoft.com/office/powerpoint/2010/main" val="1007595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180CF26D-B6A6-4AC1-A888-2B70998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CA5BBFC-B691-4297-A4E4-3E28A0E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753C6F-33F7-40A5-BEE3-C7B8F05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08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807868F-611F-47A1-8F6A-C6609B80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522697-7939-4902-8161-2D3106B5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多源资料通过一个入口进入知识库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4A3FA171-DC68-4DA2-83E8-90EA1ACD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上传面板承接文档、图片、表格等课程资料，并继承当前解析设置。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D4E5E256-1694-41FB-B4EE-116D524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c6ba5042641e3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42D269E7-3190-4A6B-9136-BC287ABD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19750"/>
            <a:ext cx="3124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6575D4-8C4A-45A8-A165-E3638C0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150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同一入口承接多种课程资料</a:t>
            </a:r>
          </a:p>
        </p:txBody>
      </p:sp>
    </p:spTree>
    <p:extLst>
      <p:ext uri="{BB962C8B-B14F-4D97-AF65-F5344CB8AC3E}">
        <p14:creationId xmlns:p14="http://schemas.microsoft.com/office/powerpoint/2010/main" val="324067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3D11B770-C4ED-4366-8D9A-708F100B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009B437-CB3B-4352-B738-06E92D7C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0B2055-7913-401B-A376-AD8ED4C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09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9881FFD-F7BE-4527-9E71-DFF73E76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A8539-BFA7-454D-825F-E99A6A3B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每份资料的处理进度清晰可见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B69077A-87AD-4D40-A71F-46B18E40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排队、解析、向量化与完成状态在任务列表中持续反馈。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8326712-E954-4F0C-8134-253C4490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79248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fa80efef74f82"/>
          <a:stretch xmlns:a="http://schemas.openxmlformats.org/drawingml/2006/main"/>
        </p:blipFill>
        <p:spPr>
          <a:xfrm xmlns:a="http://schemas.openxmlformats.org/drawingml/2006/main">
            <a:off x="1260764" y="2019300"/>
            <a:ext cx="6355773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9C3DA5F8-D038-4EF8-97BB-4C87B0E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46FBBA5-8FDC-4494-AFA3-74A5FE7F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A875"/>
                </a:solidFill>
              </a:defRPr>
            </a:pPr>
            <a:r>
              <a:rPr sz="1575" b="1">
                <a:solidFill>
                  <a:srgbClr val="20A875"/>
                </a:solidFill>
              </a:rPr>
              <a:t>已完成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2C5A4F4-1EF4-444D-8208-17FFBF0E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19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资料已进入可用状态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B776D83C-8D61-418D-84D2-D5F09269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F6DDA8-E8EC-4668-8D7B-BEE68958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AF3"/>
                </a:solidFill>
              </a:defRPr>
            </a:pPr>
            <a:r>
              <a:rPr sz="1575" b="1">
                <a:solidFill>
                  <a:srgbClr val="147AF3"/>
                </a:solidFill>
              </a:rPr>
              <a:t>向量化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7A4EE9-0B49-43A1-A056-4941326F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14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正在生成检索向量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F6D9E6E-478F-4045-8359-15164936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4506A9-D205-4D71-A7FF-8E549242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9A23B"/>
                </a:solidFill>
              </a:defRPr>
            </a:pPr>
            <a:r>
              <a:rPr sz="1575" b="1">
                <a:solidFill>
                  <a:srgbClr val="E9A23B"/>
                </a:solidFill>
              </a:rPr>
              <a:t>解析中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A868FE-C664-4409-9610-03E99959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10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正在解析文档结构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911D58F2-624D-4928-8E34-8B9DB4CB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387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5FC806-F4A7-4E1D-B373-38C5DEAE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91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6B5B"/>
                </a:solidFill>
              </a:defRPr>
            </a:pPr>
            <a:r>
              <a:rPr sz="1575" b="1">
                <a:solidFill>
                  <a:srgbClr val="F26B5B"/>
                </a:solidFill>
              </a:rPr>
              <a:t>排队中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600478-D795-4F26-834F-A113CA3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05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等待可用处理资源</a:t>
            </a:r>
          </a:p>
        </p:txBody>
      </p:sp>
    </p:spTree>
    <p:extLst>
      <p:ext uri="{BB962C8B-B14F-4D97-AF65-F5344CB8AC3E}">
        <p14:creationId xmlns:p14="http://schemas.microsoft.com/office/powerpoint/2010/main" val="315388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197AD988-F8BC-4FAE-9B42-C654F977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3D176BF-995D-41E6-A538-43364DC1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F59679-3AA1-4EAF-81ED-924635DC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10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6609F0F-6DA9-4316-8E16-76E1F858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B39B2B-1FC5-4B92-8782-70153600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文档可以继续深入到切块和检索单元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809CFD42-9B0B-40D6-9288-832C87ED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从原始文件进入切块详情，检查页码、类型、标签和具体内容。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324F7FC1-7C77-4114-8BD6-A4C4DEF4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0a4adcc71464f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5C5EFDD7-13A0-42AB-A90E-9E248887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19750"/>
            <a:ext cx="342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2746F2-CB89-4F0A-AA72-0E7C915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150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从文件继续下钻到可检索内容</a:t>
            </a:r>
          </a:p>
        </p:txBody>
      </p:sp>
    </p:spTree>
    <p:extLst>
      <p:ext uri="{BB962C8B-B14F-4D97-AF65-F5344CB8AC3E}">
        <p14:creationId xmlns:p14="http://schemas.microsoft.com/office/powerpoint/2010/main" val="1072128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8C2B726B-F499-4093-A905-416F067C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C88BBCA-7CCC-465F-9A24-005B64F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14ACEB-9C4A-4836-896F-DDBD6E0B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11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1BA0736-9DAE-443F-97E8-954EFAA0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3E75EA-E08C-439B-9010-C1ECD38C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标签帮助组织课程主题和专业内容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81A63AD2-3415-4C7E-B5AD-32A0F7B6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一个标签可以跨文档聚合同主题切块，方便课程建设者持续整理。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B5431DE-888E-413D-A87F-FA9469D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7cf41794b46fc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B503E2B0-45BC-41F6-AA39-AFD29D3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505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9A41DE-4FCF-4DD3-AA1C-E457E397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150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标签把跨文档内容组织到同一主题</a:t>
            </a:r>
          </a:p>
        </p:txBody>
      </p:sp>
    </p:spTree>
    <p:extLst>
      <p:ext uri="{BB962C8B-B14F-4D97-AF65-F5344CB8AC3E}">
        <p14:creationId xmlns:p14="http://schemas.microsoft.com/office/powerpoint/2010/main" val="584472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15990A3B-9568-4391-B038-823AF303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1EEEEA4-C1CC-4438-B358-9AD0489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EE7163-FE11-4396-AA20-6D21967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12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49CA8F1-F199-4398-96FB-E5E33177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CAF741-E649-4820-ADF2-FBEE0B90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实体和关系让知识结构变得可视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8ECDA56-9428-44EC-90BF-2E5E447F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知识图谱把部件、故障码、规范与维修手册之间的关系呈现在同一视图。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1908C75-421F-44CE-97DB-54F32598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809a50acc4172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2A1F70BF-9FAD-439B-BA53-0C5DD45F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295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0EE2FB-0E56-48D1-8700-95E5164F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150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从文档集合看到知识之间的连接</a:t>
            </a:r>
          </a:p>
        </p:txBody>
      </p:sp>
    </p:spTree>
    <p:extLst>
      <p:ext uri="{BB962C8B-B14F-4D97-AF65-F5344CB8AC3E}">
        <p14:creationId xmlns:p14="http://schemas.microsoft.com/office/powerpoint/2010/main" val="1982132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89B79B5A-37B1-4E78-97CA-9F8B0D7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F0AD823-08C7-4D4C-9C8A-79100E90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多模态知识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96825A-57E0-4B1D-B28A-BE584D5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13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88C59C5-846B-40D8-A74C-8E98111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045614-9C29-4CD4-BAA7-6C5738F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图片、表格和公式也能进入知识链路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608C969-727D-4B01-9BC9-D9E2B61E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多模态内容既可以被识别为检索单元，也可以作为回答中的视觉来源返回。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76CBEA48-897E-40A4-B020-81054D75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72390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b098391784634"/>
          <a:srcRect xmlns:a="http://schemas.openxmlformats.org/drawingml/2006/main" l="0" t="5080" r="0" b="5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19300"/>
            <a:ext cx="71247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56FE47A2-4C17-430A-8447-8A1C86F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892EA5-2666-4F80-AF47-7D3F149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AF3"/>
                </a:solidFill>
              </a:defRPr>
            </a:pPr>
            <a:r>
              <a:rPr sz="1800" b="1">
                <a:solidFill>
                  <a:srgbClr val="147AF3"/>
                </a:solidFill>
              </a:rPr>
              <a:t>图片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2ED59D1-F035-4BB1-B426-165497EC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识别图像内容，并支持视觉相似结果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4AC8D6F-CB33-4700-A6F8-BA13E18A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31E531-60A0-493D-B0FE-6B24ED40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C3D1"/>
                </a:solidFill>
              </a:defRPr>
            </a:pPr>
            <a:r>
              <a:rPr sz="1800" b="1">
                <a:solidFill>
                  <a:srgbClr val="17C3D1"/>
                </a:solidFill>
              </a:rPr>
              <a:t>表格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859BE6A-F0EE-4004-9242-FCAFEF78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保留结构信息，参与问题检索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3A61BD1-A4E5-4DDD-9BF9-705D02F2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290D304-34CA-4FC0-821C-EC18BE99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81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6B5B"/>
                </a:solidFill>
              </a:defRPr>
            </a:pPr>
            <a:r>
              <a:rPr sz="1800" b="1">
                <a:solidFill>
                  <a:srgbClr val="F26B5B"/>
                </a:solidFill>
              </a:rPr>
              <a:t>公式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3FD30D0-718E-4BCC-9668-C5A2FED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625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作为文档内容进入解析与引用链路</a:t>
            </a:r>
          </a:p>
        </p:txBody>
      </p:sp>
    </p:spTree>
    <p:extLst>
      <p:ext uri="{BB962C8B-B14F-4D97-AF65-F5344CB8AC3E}">
        <p14:creationId xmlns:p14="http://schemas.microsoft.com/office/powerpoint/2010/main" val="18692186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6749AE22-20B1-40A0-9C35-74A57CE6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271D170-2207-4955-99D5-326B325F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EDD054C-A29D-4193-B3A0-9792207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14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E69ADCF-A88A-4091-A28D-E196CF7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317CE1-ED01-4A27-B429-97BF2889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每个智能体拥有独立的知识与回答方式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2D84B9F-713B-440F-8C02-EA47023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同一平台可以为不同课程、专业任务和使用场景配置专属助手。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885F6BB-E0D5-44A9-AC42-E93B83F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7956fefeb4043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D242D2F0-817A-401E-90B6-EF483277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19750"/>
            <a:ext cx="3276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34DEBA-7EA7-4D49-B43A-F281D2A3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150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按课程任务组织不同助手</a:t>
            </a:r>
          </a:p>
        </p:txBody>
      </p:sp>
    </p:spTree>
    <p:extLst>
      <p:ext uri="{BB962C8B-B14F-4D97-AF65-F5344CB8AC3E}">
        <p14:creationId xmlns:p14="http://schemas.microsoft.com/office/powerpoint/2010/main" val="17544066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6BF3D100-2ACD-472E-8498-192DF054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69EC21A-76CD-4496-836D-992D53E0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3EC7B7-833F-4E32-8A1E-7D98EBEE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28FD6F5-7073-4212-954B-2705325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8C7D1C-ACF9-449B-8E16-3D71CB5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绑定知识库、模型和检索策略即可完成配置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0CDC2EFB-7336-4BF1-AD0C-A97490A9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回答风格、检索范围、重排与引用开关都在同一配置界面维护。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E05BFD8-CA6E-4306-B1D5-9C60217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05782e727472f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2220F905-B53B-4977-8EDB-CCDC1B7E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295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28F3BF-33C7-4F37-9B62-EFD75F7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150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知识范围与回答方式分别配置</a:t>
            </a:r>
          </a:p>
        </p:txBody>
      </p:sp>
    </p:spTree>
    <p:extLst>
      <p:ext uri="{BB962C8B-B14F-4D97-AF65-F5344CB8AC3E}">
        <p14:creationId xmlns:p14="http://schemas.microsoft.com/office/powerpoint/2010/main" val="384495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">
            <a:extLst xmlns:a="http://schemas.openxmlformats.org/drawingml/2006/main">
              <a:ext uri="{FF2B5EF4-FFF2-40B4-BE49-F238E27FC236}">
                <a16:creationId xmlns:a16="http://schemas.microsoft.com/office/drawing/2014/main" id="{44D032ED-CC30-4456-97E3-B72B897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F418303-AEF5-4101-9A72-C585AE18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C0E98B-58D3-49CB-A07A-75FA29C8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16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615B784-5CF6-4401-B252-1979980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CBD19D-F8B7-4829-AECE-4307D691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用户可以按问题特点选择检索方式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84A5FF8A-982F-4BA0-A1D2-0B305314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不同问题需要不同的证据组织方法，智能体可在提问前切换检索策略。</a:t>
            </a:r>
          </a:p>
        </p:txBody>
      </p:sp>
      <p:sp>
        <p:nvSpPr>
          <p:cNvPr id="7" name="mode-0">
            <a:extLst xmlns:a="http://schemas.openxmlformats.org/drawingml/2006/main">
              <a:ext uri="{FF2B5EF4-FFF2-40B4-BE49-F238E27FC236}">
                <a16:creationId xmlns:a16="http://schemas.microsoft.com/office/drawing/2014/main" id="{415A6FAC-DE18-4FF5-AB0C-3C85F007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82AF50-816B-4BC9-89C5-291994C1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AF3"/>
                </a:solidFill>
              </a:defRPr>
            </a:pPr>
            <a:r>
              <a:rPr sz="1575" b="1">
                <a:solidFill>
                  <a:srgbClr val="147AF3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24E86B-B31E-4F96-A730-8308ADD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智能混合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ADE8C4-4944-41B4-B1A6-F6A0AFAF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D"/>
                </a:solidFill>
              </a:defRPr>
            </a:pPr>
            <a:r>
              <a:rPr sz="1350" b="0">
                <a:solidFill>
                  <a:srgbClr val="5F6B7D"/>
                </a:solidFill>
              </a:rPr>
              <a:t>综合关键词、向量与图谱信号，适合大多数教学问答。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41B12277-4178-4CAB-8004-21094BED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704CF1-5E39-40E3-8EB9-0175CE6F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AF3"/>
                </a:solidFill>
              </a:defRPr>
            </a:pPr>
            <a:r>
              <a:rPr sz="1200" b="1">
                <a:solidFill>
                  <a:srgbClr val="147AF3"/>
                </a:solidFill>
              </a:rPr>
              <a:t>默认</a:t>
            </a:r>
          </a:p>
        </p:txBody>
      </p:sp>
      <p:sp>
        <p:nvSpPr>
          <p:cNvPr id="13" name="mode-1">
            <a:extLst xmlns:a="http://schemas.openxmlformats.org/drawingml/2006/main">
              <a:ext uri="{FF2B5EF4-FFF2-40B4-BE49-F238E27FC236}">
                <a16:creationId xmlns:a16="http://schemas.microsoft.com/office/drawing/2014/main" id="{FD67FD07-1F63-4261-B23D-CCD8457B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6079C4-3642-427B-8502-A9C05437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1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C3D1"/>
                </a:solidFill>
              </a:defRPr>
            </a:pPr>
            <a:r>
              <a:rPr sz="1575" b="1">
                <a:solidFill>
                  <a:srgbClr val="17C3D1"/>
                </a:solidFill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D3AD25-EBED-4647-A655-5042D978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图谱检索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4830D7-19F2-4C27-843E-96342484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76650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D"/>
                </a:solidFill>
              </a:defRPr>
            </a:pPr>
            <a:r>
              <a:rPr sz="1350" b="0">
                <a:solidFill>
                  <a:srgbClr val="5F6B7D"/>
                </a:solidFill>
              </a:rPr>
              <a:t>沿实体关系寻找线索，适合部件关联与原因追踪。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D483B47-12D5-4859-8BAA-3CC367C9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8630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64B7796-B1DD-4D2F-8819-38F389B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562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C3D1"/>
                </a:solidFill>
              </a:defRPr>
            </a:pPr>
            <a:r>
              <a:rPr sz="1200" b="1">
                <a:solidFill>
                  <a:srgbClr val="17C3D1"/>
                </a:solidFill>
              </a:rPr>
              <a:t>关系问题</a:t>
            </a:r>
          </a:p>
        </p:txBody>
      </p:sp>
      <p:sp>
        <p:nvSpPr>
          <p:cNvPr id="19" name="mode-2">
            <a:extLst xmlns:a="http://schemas.openxmlformats.org/drawingml/2006/main">
              <a:ext uri="{FF2B5EF4-FFF2-40B4-BE49-F238E27FC236}">
                <a16:creationId xmlns:a16="http://schemas.microsoft.com/office/drawing/2014/main" id="{9AF10024-DCD3-427C-84D5-72802E1D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7CC3ADE-E603-44DD-A80E-08BE797C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6B5B"/>
                </a:solidFill>
              </a:defRPr>
            </a:pPr>
            <a:r>
              <a:rPr sz="1575" b="1">
                <a:solidFill>
                  <a:srgbClr val="F26B5B"/>
                </a:solidFill>
              </a:rPr>
              <a:t>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9292DB6-D9C3-48B9-ABEF-C7C665F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融合重排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1F2AEFB-C3F9-4E72-8870-8CB1A4B3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D"/>
                </a:solidFill>
              </a:defRPr>
            </a:pPr>
            <a:r>
              <a:rPr sz="1350" b="0">
                <a:solidFill>
                  <a:srgbClr val="5F6B7D"/>
                </a:solidFill>
              </a:rPr>
              <a:t>合并多路召回后再次排序，适合证据分散的问题。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66FDC176-C24C-49E0-B49F-3B4FF39D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08EED35-75B4-4860-A510-3AD35F4E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62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B"/>
                </a:solidFill>
              </a:defRPr>
            </a:pPr>
            <a:r>
              <a:rPr sz="1200" b="1">
                <a:solidFill>
                  <a:srgbClr val="F26B5B"/>
                </a:solidFill>
              </a:rPr>
              <a:t>复杂问题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653CFE3-B5FA-46EB-B53D-0812148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</a:defRPr>
            </a:pPr>
            <a:r>
              <a:rPr sz="1650" b="1">
                <a:solidFill>
                  <a:srgbClr val="10233F"/>
                </a:solidFill>
              </a:rPr>
              <a:t>检索策略决定如何找证据；回答方式决定如何组织结论。</a:t>
            </a:r>
          </a:p>
        </p:txBody>
      </p:sp>
    </p:spTree>
    <p:extLst>
      <p:ext uri="{BB962C8B-B14F-4D97-AF65-F5344CB8AC3E}">
        <p14:creationId xmlns:p14="http://schemas.microsoft.com/office/powerpoint/2010/main" val="6982743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301ECA21-2091-417B-AFE0-3E242784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EF69A8E-AE9B-4009-9AEF-9C1C8CF5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1B48C4-AF9F-45DD-B5D0-2620D44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17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89C26D1-1FAB-4F53-965C-A7DCFB70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2FEBC1-D032-4F66-8741-50C2AA4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回答不仅给结论，还给出知识来源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95043D18-2C40-44E5-B950-450CD0E6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用户可以继续核对引用文档、页码和视觉相似结果。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BD51053-2503-4D06-8762-4C1BB97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1e1c2258f470a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19422814-7F02-4AB0-98CF-A7D98A09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00700"/>
            <a:ext cx="3505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56D438-1EB4-4217-8776-73C24C1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9595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结论、引用与视觉来源同时呈现</a:t>
            </a:r>
          </a:p>
        </p:txBody>
      </p:sp>
    </p:spTree>
    <p:extLst>
      <p:ext uri="{BB962C8B-B14F-4D97-AF65-F5344CB8AC3E}">
        <p14:creationId xmlns:p14="http://schemas.microsoft.com/office/powerpoint/2010/main" val="9451360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0323D103-B44B-4639-9544-B31A3DF5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AB016BF-A09C-4E63-916D-5134B99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行业应用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92B658-5FC4-473A-B911-75F4BB5E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18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1EE8509-0606-49DA-AE8C-43F9A11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0F9C0A-FF3B-4CAC-A770-616861FD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汽修教学展示平台如何进入真实专业场景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99DBF02D-376E-4305-89DC-A43E84F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专业工作台把案例、知识图谱和课程问答组织成面向实训的入口。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D5FC440-2F89-4919-AA96-04F5F26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b1cf3c6194142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3BC53845-60A7-440B-94F7-E72DE3F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00700"/>
            <a:ext cx="3562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876B2E-119A-484E-A86F-0A8AACA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959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通用能力可以组合成专业工作台</a:t>
            </a:r>
          </a:p>
        </p:txBody>
      </p:sp>
    </p:spTree>
    <p:extLst>
      <p:ext uri="{BB962C8B-B14F-4D97-AF65-F5344CB8AC3E}">
        <p14:creationId xmlns:p14="http://schemas.microsoft.com/office/powerpoint/2010/main" val="5886252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">
            <a:extLst xmlns:a="http://schemas.openxmlformats.org/drawingml/2006/main">
              <a:ext uri="{FF2B5EF4-FFF2-40B4-BE49-F238E27FC236}">
                <a16:creationId xmlns:a16="http://schemas.microsoft.com/office/drawing/2014/main" id="{0B7B98A4-E3F7-435F-90B9-F06F398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18F4049-4BE7-4B11-B84D-D43637BD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治理保障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240B5F-F0A3-42CE-9160-9D087357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19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2DFCCF5-62A0-4375-9CC4-EAD9F20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7EF9D2-202C-46EB-80DF-EEF52CF5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五级角色、平台策略、审计与监控共同保障使用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55F5F7DB-03CC-4C70-904C-957402CD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权限边界、平台默认值、操作留痕与运行状态形成完整治理视图。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8B70E63-32DA-490E-8756-9B163907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d3bb907dd4b68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5740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9" name="label-五级角色与用户">
            <a:extLst xmlns:a="http://schemas.openxmlformats.org/drawingml/2006/main">
              <a:ext uri="{FF2B5EF4-FFF2-40B4-BE49-F238E27FC236}">
                <a16:creationId xmlns:a16="http://schemas.microsoft.com/office/drawing/2014/main" id="{018C9571-93E9-455A-A56D-7E1CE98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30938E-0656-4E88-8263-2D5B5D9E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五级角色与用户</a:t>
            </a:r>
          </a:p>
        </p:txBody>
      </p:sp>
      <p:sp>
        <p:nvSpPr>
          <p:cNvPr id="11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322BCFA2-A12D-4B88-9C1C-7823FE1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288ced7c448e6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205740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3" name="label-平台策略">
            <a:extLst xmlns:a="http://schemas.openxmlformats.org/drawingml/2006/main">
              <a:ext uri="{FF2B5EF4-FFF2-40B4-BE49-F238E27FC236}">
                <a16:creationId xmlns:a16="http://schemas.microsoft.com/office/drawing/2014/main" id="{105F34C1-0F56-4223-B5F0-98AEFB6D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5883556-F326-4225-BB83-992D1B57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平台策略</a:t>
            </a:r>
          </a:p>
        </p:txBody>
      </p:sp>
      <p:sp>
        <p:nvSpPr>
          <p:cNvPr id="1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3FAD9CC-D824-48C2-BEDA-8C590B12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eb4eaa4984c6b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17195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7" name="label-审计日志">
            <a:extLst xmlns:a="http://schemas.openxmlformats.org/drawingml/2006/main">
              <a:ext uri="{FF2B5EF4-FFF2-40B4-BE49-F238E27FC236}">
                <a16:creationId xmlns:a16="http://schemas.microsoft.com/office/drawing/2014/main" id="{4415A5A3-2B5C-4FC5-B86A-5126834B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2A81C0A-02B4-4086-9918-BB122BA7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审计日志</a:t>
            </a:r>
          </a:p>
        </p:txBody>
      </p:sp>
      <p:sp>
        <p:nvSpPr>
          <p:cNvPr id="1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F088A286-8B38-4038-BA00-8464DBC7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54ce57faf442a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417195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21" name="label-运行监控">
            <a:extLst xmlns:a="http://schemas.openxmlformats.org/drawingml/2006/main">
              <a:ext uri="{FF2B5EF4-FFF2-40B4-BE49-F238E27FC236}">
                <a16:creationId xmlns:a16="http://schemas.microsoft.com/office/drawing/2014/main" id="{9F3E1E0E-E712-4BB8-85B0-1F53097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47777D-64A2-466B-811C-C97448A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911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运行监控</a:t>
            </a:r>
          </a:p>
        </p:txBody>
      </p:sp>
    </p:spTree>
    <p:extLst>
      <p:ext uri="{BB962C8B-B14F-4D97-AF65-F5344CB8AC3E}">
        <p14:creationId xmlns:p14="http://schemas.microsoft.com/office/powerpoint/2010/main" val="5713821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">
            <a:extLst xmlns:a="http://schemas.openxmlformats.org/drawingml/2006/main">
              <a:ext uri="{FF2B5EF4-FFF2-40B4-BE49-F238E27FC236}">
                <a16:creationId xmlns:a16="http://schemas.microsoft.com/office/drawing/2014/main" id="{EB549EA5-F09C-4901-9E1B-6A0747F0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7BFEB75-B39C-40B7-B97B-90B9CB7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6EC"/>
                </a:solidFill>
              </a:defRPr>
            </a:pPr>
            <a:r>
              <a:rPr sz="975" b="0">
                <a:solidFill>
                  <a:srgbClr val="BCD6EC"/>
                </a:solidFill>
              </a:rPr>
              <a:t>开始使用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24C073-5FED-43A5-B3A9-2148D35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CD6EC"/>
                </a:solidFill>
              </a:defRPr>
            </a:pPr>
            <a:r>
              <a:rPr sz="975" b="1">
                <a:solidFill>
                  <a:srgbClr val="BCD6EC"/>
                </a:solidFill>
              </a:rPr>
              <a:t>20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D3B7F4D-E246-4564-9CBB-19A98203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8F97D2C-9C77-4D9A-B5DF-BBAEEDEA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三步开始，让课程资料真正被用起来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49A30E-028B-4451-B572-841153D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CD6EC"/>
                </a:solidFill>
              </a:defRPr>
            </a:pPr>
            <a:r>
              <a:rPr sz="1500" b="0">
                <a:solidFill>
                  <a:srgbClr val="BCD6EC"/>
                </a:solidFill>
              </a:rPr>
              <a:t>从一个课程、一组资料和一个明确问题开始</a:t>
            </a:r>
          </a:p>
        </p:txBody>
      </p:sp>
      <p:sp>
        <p:nvSpPr>
          <p:cNvPr id="7" name="close-step-0">
            <a:extLst xmlns:a="http://schemas.openxmlformats.org/drawingml/2006/main">
              <a:ext uri="{FF2B5EF4-FFF2-40B4-BE49-F238E27FC236}">
                <a16:creationId xmlns:a16="http://schemas.microsoft.com/office/drawing/2014/main" id="{6461E2EB-EE50-4298-AFF5-F1347FB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42D49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598531-9873-40C1-B12A-3593F1E0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5BCE8"/>
                </a:solidFill>
              </a:defRPr>
            </a:pPr>
            <a:r>
              <a:rPr sz="1800" b="1">
                <a:solidFill>
                  <a:srgbClr val="85BCE8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3F5109-FA0A-4A8B-BFB0-1EB3CAF7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创建知识库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F08C4F-14A7-4EF4-8B59-D387E797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D7E8"/>
                </a:solidFill>
              </a:defRPr>
            </a:pPr>
            <a:r>
              <a:rPr sz="1275" b="0">
                <a:solidFill>
                  <a:srgbClr val="C3D7E8"/>
                </a:solidFill>
              </a:rPr>
              <a:t>以课程、专业或项目为边界建立知识空间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454FAB-549F-4AEE-A0EB-669CA3FB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76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197B7"/>
                </a:solidFill>
              </a:defRPr>
            </a:pPr>
            <a:r>
              <a:rPr sz="2250" b="1">
                <a:solidFill>
                  <a:srgbClr val="7197B7"/>
                </a:solidFill>
              </a:rPr>
              <a:t>→</a:t>
            </a:r>
          </a:p>
        </p:txBody>
      </p:sp>
      <p:sp>
        <p:nvSpPr>
          <p:cNvPr id="12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E05A5DAD-9C88-4A69-BA38-3FF3548D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83552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D2A4636-847B-4C75-AB5F-B5DAA839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B8F4"/>
                </a:solidFill>
              </a:defRPr>
            </a:pPr>
            <a:r>
              <a:rPr sz="1800" b="1">
                <a:solidFill>
                  <a:srgbClr val="35B8F4"/>
                </a:solidFill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738A58-F58F-414F-89E6-BB08DE67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上传资料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3AB1DD-D138-4509-B14D-4F47DD6A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1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D7E8"/>
                </a:solidFill>
              </a:defRPr>
            </a:pPr>
            <a:r>
              <a:rPr sz="1275" b="0">
                <a:solidFill>
                  <a:srgbClr val="C3D7E8"/>
                </a:solidFill>
              </a:rPr>
              <a:t>从已有课件、手册、图片和案例开始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7A65E06-5ABE-4CF6-BD57-0B1202B1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197B7"/>
                </a:solidFill>
              </a:defRPr>
            </a:pPr>
            <a:r>
              <a:rPr sz="2250" b="1">
                <a:solidFill>
                  <a:srgbClr val="7197B7"/>
                </a:solidFill>
              </a:rPr>
              <a:t>→</a:t>
            </a:r>
          </a:p>
        </p:txBody>
      </p:sp>
      <p:sp>
        <p:nvSpPr>
          <p:cNvPr id="17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7C4CF5DA-19EF-48F3-90BA-B616C68D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42D49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DEC4D2-E9A4-488C-AE36-996F8E58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5BCE8"/>
                </a:solidFill>
              </a:defRPr>
            </a:pPr>
            <a:r>
              <a:rPr sz="1800" b="1">
                <a:solidFill>
                  <a:srgbClr val="85BCE8"/>
                </a:solidFill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06AD5F-8089-4F41-A99D-BC9B41FB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启用智能体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D7A5D71-A72C-4C77-9C28-37D8C3C5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D7E8"/>
                </a:solidFill>
              </a:defRPr>
            </a:pPr>
            <a:r>
              <a:rPr sz="1275" b="0">
                <a:solidFill>
                  <a:srgbClr val="C3D7E8"/>
                </a:solidFill>
              </a:rPr>
              <a:t>绑定知识范围，让用户提出真实问题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6C0F904B-5B27-42A7-979B-17A55852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3200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D9E3461-80C3-4FF1-A107-20828FA5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知元 · 多模态教学知识服务平台</a:t>
            </a:r>
          </a:p>
        </p:txBody>
      </p:sp>
    </p:spTree>
    <p:extLst>
      <p:ext uri="{BB962C8B-B14F-4D97-AF65-F5344CB8AC3E}">
        <p14:creationId xmlns:p14="http://schemas.microsoft.com/office/powerpoint/2010/main" val="581383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2026-08-17T06:13:04.9280000Z</dcterms:created>
  <dcterms:modified xsi:type="dcterms:W3CDTF">2026-08-17T06:13:04.9280000Z</dcterms:modified>
</coreProperties>
</file>